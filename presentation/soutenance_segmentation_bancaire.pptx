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b883a75-bcee-43f8-bb76-b8dd22c7ab12}">
          <p14:sldIdLst>
            <p14:sldId id="256"/>
            <p14:sldId id="257"/>
          </p14:sldIdLst>
        </p14:section>
        <p14:section name="Préparation et distances" id="{37460ba7-2b67-e02d-870e-e0c3d6cfdd96}">
          <p14:sldIdLst>
            <p14:sldId id="258"/>
            <p14:sldId id="259"/>
          </p14:sldIdLst>
        </p14:section>
        <p14:section name="Clustering" id="{94d2e494-b026-f19a-6651-f88362f78696}">
          <p14:sldIdLst>
            <p14:sldId id="260"/>
            <p14:sldId id="261"/>
          </p14:sldIdLst>
        </p14:section>
        <p14:section name="Validation" id="{94180408-c8e3-e96e-e28e-286272cc0c7c}">
          <p14:sldIdLst>
            <p14:sldId id="262"/>
            <p14:sldId id="263"/>
          </p14:sldIdLst>
        </p14:section>
        <p14:section name="Segments et actions" id="{573ec3f0-e37a-649b-977b-6d906eb72094}">
          <p14:sldIdLst>
            <p14:sldId id="264"/>
            <p14:sldId id="265"/>
            <p14:sldId id="266"/>
          </p14:sldIdLst>
        </p14:section>
        <p14:section name="Extensions" id="{54d24d34-20c7-8299-9b86-caa815be5d80}">
          <p14:sldIdLst>
            <p14:sldId id="267"/>
            <p14:sldId id="268"/>
          </p14:sldIdLst>
        </p14:section>
        <p14:section name="Conclusion" id="{3cce1a51-ce7b-0b8b-54a8-d9f907ab15f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3B"/>
                </a:solidFill>
                <a:latin typeface="+mn-lt"/>
              </a:defRPr>
            </a:pPr>
            <a:r>
              <a:rPr sz="1400" b="0" i="0" u="none" strike="noStrike">
                <a:solidFill>
                  <a:srgbClr val="15233B"/>
                </a:solidFill>
                <a:latin typeface="+mn-lt"/>
              </a:rPr>
              <a:t>Part de chaque variable dans la distance euclidienne² (%)</a:t>
            </a:r>
          </a:p>
        </c:rich>
      </c:tx>
      <c:layout/>
      <c:overlay val="0"/>
    </c:title>
    <c:autoTitleDeleted val="0"/>
    <c:plotArea>
      <c:layout/>
      <c:barChart>
        <c:barDir val="bar"/>
        <c:grouping val="clustered"/>
        <c:varyColors val="0"/>
        <c:ser>
          <c:idx val="0"/>
          <c:order val="0"/>
          <c:tx>
            <c:strRef>
              <c:f>Sheet1!$B$1</c:f>
              <c:strCache>
                <c:ptCount val="1"/>
                <c:pt idx="0">
                  <c:v>Sans standardisation</c:v>
                </c:pt>
              </c:strCache>
            </c:strRef>
          </c:tx>
          <c:spPr>
            <a:solidFill>
              <a:srgbClr val="C0392B"/>
            </a:solidFill>
            <a:effectLst/>
          </c:spPr>
          <c:invertIfNegative val="0"/>
          <c:dLbls>
            <c:numFmt formatCode="0.0&quot; %&quot;"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cat>
            <c:multiLvlStrRef>
              <c:f>Sheet1!$A$2:$A$7</c:f>
              <c:multiLvlStrCache>
                <c:ptCount val="6"/>
                <c:lvl>
                  <c:pt idx="0">
                    <c:v>age</c:v>
                  </c:pt>
                  <c:pt idx="1">
                    <c:v>campaign_log</c:v>
                  </c:pt>
                  <c:pt idx="2">
                    <c:v>previous</c:v>
                  </c:pt>
                  <c:pt idx="3">
                    <c:v>euribor3m</c:v>
                  </c:pt>
                  <c:pt idx="4">
                    <c:v>cons.conf.idx</c:v>
                  </c:pt>
                  <c:pt idx="5">
                    <c:v>education_level</c:v>
                  </c:pt>
                </c:lvl>
              </c:multiLvlStrCache>
            </c:multiLvlStrRef>
          </c:cat>
          <c:val>
            <c:numRef>
              <c:f>Sheet1!$B$2:$B$7</c:f>
              <c:numCache>
                <c:formatCode>General</c:formatCode>
                <c:ptCount val="6"/>
                <c:pt idx="0">
                  <c:v>80.1</c:v>
                </c:pt>
                <c:pt idx="1">
                  <c:v>0.2</c:v>
                </c:pt>
                <c:pt idx="2">
                  <c:v>0.2</c:v>
                </c:pt>
                <c:pt idx="3">
                  <c:v>2.2</c:v>
                </c:pt>
                <c:pt idx="4">
                  <c:v>15.5</c:v>
                </c:pt>
                <c:pt idx="5">
                  <c:v>1.9</c:v>
                </c:pt>
              </c:numCache>
            </c:numRef>
          </c:val>
        </c:ser>
        <c:ser>
          <c:idx val="1"/>
          <c:order val="1"/>
          <c:tx>
            <c:strRef>
              <c:f>Sheet1!$C$1</c:f>
              <c:strCache>
                <c:ptCount val="1"/>
                <c:pt idx="0">
                  <c:v>Avec standardisation</c:v>
                </c:pt>
              </c:strCache>
            </c:strRef>
          </c:tx>
          <c:spPr>
            <a:solidFill>
              <a:srgbClr val="2E86C1"/>
            </a:solidFill>
            <a:effectLst/>
          </c:spPr>
          <c:invertIfNegative val="0"/>
          <c:dLbls>
            <c:numFmt formatCode="0.0&quot; %&quot;"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cat>
            <c:multiLvlStrRef>
              <c:f>Sheet1!$A$2:$A$7</c:f>
              <c:multiLvlStrCache>
                <c:ptCount val="6"/>
                <c:lvl>
                  <c:pt idx="0">
                    <c:v>age</c:v>
                  </c:pt>
                  <c:pt idx="1">
                    <c:v>campaign_log</c:v>
                  </c:pt>
                  <c:pt idx="2">
                    <c:v>previous</c:v>
                  </c:pt>
                  <c:pt idx="3">
                    <c:v>euribor3m</c:v>
                  </c:pt>
                  <c:pt idx="4">
                    <c:v>cons.conf.idx</c:v>
                  </c:pt>
                  <c:pt idx="5">
                    <c:v>education_level</c:v>
                  </c:pt>
                </c:lvl>
              </c:multiLvlStrCache>
            </c:multiLvlStrRef>
          </c:cat>
          <c:val>
            <c:numRef>
              <c:f>Sheet1!$C$2:$C$7</c:f>
              <c:numCache>
                <c:formatCode>General</c:formatCode>
                <c:ptCount val="6"/>
                <c:pt idx="0">
                  <c:v>16.9</c:v>
                </c:pt>
                <c:pt idx="1">
                  <c:v>15.9</c:v>
                </c:pt>
                <c:pt idx="2">
                  <c:v>18</c:v>
                </c:pt>
                <c:pt idx="3">
                  <c:v>16.4</c:v>
                </c:pt>
                <c:pt idx="4">
                  <c:v>16.5</c:v>
                </c:pt>
                <c:pt idx="5">
                  <c:v>16.3</c:v>
                </c:pt>
              </c:numCache>
            </c:numRef>
          </c:val>
        </c:ser>
        <c:dLbls>
          <c:numFmt formatCode="0.0&quot; %&quot;"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max val="9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3B"/>
                </a:solidFill>
                <a:latin typeface="+mn-lt"/>
              </a:defRPr>
            </a:pPr>
            <a:r>
              <a:rPr sz="1400" b="0" i="0" u="none" strike="noStrike">
                <a:solidFill>
                  <a:srgbClr val="15233B"/>
                </a:solidFill>
                <a:latin typeface="+mn-lt"/>
              </a:rPr>
              <a:t>ARI moyen entre exécutions de K-means</a:t>
            </a:r>
          </a:p>
        </c:rich>
      </c:tx>
      <c:layout/>
      <c:overlay val="0"/>
    </c:title>
    <c:autoTitleDeleted val="0"/>
    <c:plotArea>
      <c:layout/>
      <c:lineChart>
        <c:varyColors val="0"/>
        <c:ser>
          <c:idx val="0"/>
          <c:order val="0"/>
          <c:tx>
            <c:strRef>
              <c:f>Sheet1!$B$1</c:f>
              <c:strCache>
                <c:ptCount val="1"/>
                <c:pt idx="0">
                  <c:v>Bootstrap (20 réplications)</c:v>
                </c:pt>
              </c:strCache>
            </c:strRef>
          </c:tx>
          <c:spPr>
            <a:solidFill>
              <a:srgbClr val="2E86C1"/>
            </a:solidFill>
            <a:ln w="31750" cap="flat">
              <a:solidFill>
                <a:srgbClr val="2E86C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E86C1"/>
              </a:solidFill>
              <a:ln w="9525" cap="flat">
                <a:solidFill>
                  <a:srgbClr val="2E86C1"/>
                </a:solidFill>
                <a:prstDash val="solid"/>
                <a:round/>
              </a:ln>
              <a:effectLst/>
            </c:spPr>
          </c:marker>
          <c:cat>
            <c:multiLvlStrRef>
              <c:f>Sheet1!$A$2:$A$10</c:f>
              <c:multiLvlStrCache>
                <c:ptCount val="9"/>
                <c:lvl>
                  <c:pt idx="0">
                    <c:v>2</c:v>
                  </c:pt>
                  <c:pt idx="1">
                    <c:v>3</c:v>
                  </c:pt>
                  <c:pt idx="2">
                    <c:v>4</c:v>
                  </c:pt>
                  <c:pt idx="3">
                    <c:v>5</c:v>
                  </c:pt>
                  <c:pt idx="4">
                    <c:v>6</c:v>
                  </c:pt>
                  <c:pt idx="5">
                    <c:v>7</c:v>
                  </c:pt>
                  <c:pt idx="6">
                    <c:v>8</c:v>
                  </c:pt>
                  <c:pt idx="7">
                    <c:v>9</c:v>
                  </c:pt>
                  <c:pt idx="8">
                    <c:v>10</c:v>
                  </c:pt>
                </c:lvl>
              </c:multiLvlStrCache>
            </c:multiLvlStrRef>
          </c:cat>
          <c:val>
            <c:numRef>
              <c:f>Sheet1!$B$2:$B$10</c:f>
              <c:numCache>
                <c:formatCode>General</c:formatCode>
                <c:ptCount val="9"/>
                <c:pt idx="0">
                  <c:v>0.989</c:v>
                </c:pt>
                <c:pt idx="1">
                  <c:v>0.717</c:v>
                </c:pt>
                <c:pt idx="2">
                  <c:v>0.945</c:v>
                </c:pt>
                <c:pt idx="3">
                  <c:v>0.971</c:v>
                </c:pt>
                <c:pt idx="4">
                  <c:v>0.902</c:v>
                </c:pt>
                <c:pt idx="5">
                  <c:v>0.903</c:v>
                </c:pt>
                <c:pt idx="6">
                  <c:v>0.887</c:v>
                </c:pt>
                <c:pt idx="7">
                  <c:v>0.762</c:v>
                </c:pt>
                <c:pt idx="8">
                  <c:v>0.786</c:v>
                </c:pt>
              </c:numCache>
            </c:numRef>
          </c:val>
          <c:smooth val="0"/>
        </c:ser>
        <c:ser>
          <c:idx val="1"/>
          <c:order val="1"/>
          <c:tx>
            <c:strRef>
              <c:f>Sheet1!$C$1</c:f>
              <c:strCache>
                <c:ptCount val="1"/>
                <c:pt idx="0">
                  <c:v>20 graines, n_init = 1</c:v>
                </c:pt>
              </c:strCache>
            </c:strRef>
          </c:tx>
          <c:spPr>
            <a:solidFill>
              <a:srgbClr val="E67E22"/>
            </a:solidFill>
            <a:ln w="31750" cap="flat">
              <a:solidFill>
                <a:srgbClr val="E67E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67E22"/>
              </a:solidFill>
              <a:ln w="9525" cap="flat">
                <a:solidFill>
                  <a:srgbClr val="E67E22"/>
                </a:solidFill>
                <a:prstDash val="solid"/>
                <a:round/>
              </a:ln>
              <a:effectLst/>
            </c:spPr>
          </c:marker>
          <c:cat>
            <c:multiLvlStrRef>
              <c:f>Sheet1!$A$2:$A$10</c:f>
              <c:multiLvlStrCache>
                <c:ptCount val="9"/>
                <c:lvl>
                  <c:pt idx="0">
                    <c:v>2</c:v>
                  </c:pt>
                  <c:pt idx="1">
                    <c:v>3</c:v>
                  </c:pt>
                  <c:pt idx="2">
                    <c:v>4</c:v>
                  </c:pt>
                  <c:pt idx="3">
                    <c:v>5</c:v>
                  </c:pt>
                  <c:pt idx="4">
                    <c:v>6</c:v>
                  </c:pt>
                  <c:pt idx="5">
                    <c:v>7</c:v>
                  </c:pt>
                  <c:pt idx="6">
                    <c:v>8</c:v>
                  </c:pt>
                  <c:pt idx="7">
                    <c:v>9</c:v>
                  </c:pt>
                  <c:pt idx="8">
                    <c:v>10</c:v>
                  </c:pt>
                </c:lvl>
              </c:multiLvlStrCache>
            </c:multiLvlStrRef>
          </c:cat>
          <c:val>
            <c:numRef>
              <c:f>Sheet1!$C$2:$C$10</c:f>
              <c:numCache>
                <c:formatCode>General</c:formatCode>
                <c:ptCount val="9"/>
                <c:pt idx="0">
                  <c:v>0.932</c:v>
                </c:pt>
                <c:pt idx="1">
                  <c:v>0.605</c:v>
                </c:pt>
                <c:pt idx="2">
                  <c:v>0.666</c:v>
                </c:pt>
                <c:pt idx="3">
                  <c:v>0.86</c:v>
                </c:pt>
                <c:pt idx="4">
                  <c:v>0.73</c:v>
                </c:pt>
                <c:pt idx="5">
                  <c:v>0.649</c:v>
                </c:pt>
                <c:pt idx="6">
                  <c:v>0.692</c:v>
                </c:pt>
                <c:pt idx="7">
                  <c:v>0.672</c:v>
                </c:pt>
                <c:pt idx="8">
                  <c:v>0.662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000000"/>
                    </a:solidFill>
                    <a:latin typeface="Arial"/>
                  </a:defRPr>
                </a:pPr>
                <a:r>
                  <a:rPr sz="1200" b="0" i="0" u="none" strike="noStrike">
                    <a:solidFill>
                      <a:srgbClr val="000000"/>
                    </a:solidFill>
                    <a:latin typeface="Arial"/>
                  </a:rPr>
                  <a:t>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A1F2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3B"/>
                </a:solidFill>
                <a:latin typeface="+mn-lt"/>
              </a:defRPr>
            </a:pPr>
            <a:r>
              <a:rPr sz="1400" b="0" i="0" u="none" strike="noStrike">
                <a:solidFill>
                  <a:srgbClr val="15233B"/>
                </a:solidFill>
                <a:latin typeface="+mn-lt"/>
              </a:rPr>
              <a:t>Taux de souscription au dépôt à terme (moyenne : 11,3 %)</a:t>
            </a:r>
          </a:p>
        </c:rich>
      </c:tx>
      <c:layout/>
      <c:overlay val="0"/>
    </c:title>
    <c:autoTitleDeleted val="0"/>
    <c:plotArea>
      <c:layout/>
      <c:barChart>
        <c:barDir val="bar"/>
        <c:grouping val="stacked"/>
        <c:varyColors val="0"/>
        <c:ser>
          <c:idx val="0"/>
          <c:order val="0"/>
          <c:tx>
            <c:strRef>
              <c:f>Sheet1!$B$1</c:f>
              <c:strCache>
                <c:ptCount val="1"/>
                <c:pt idx="0">
                  <c:v>S1 Masse froide</c:v>
                </c:pt>
              </c:strCache>
            </c:strRef>
          </c:tx>
          <c:spPr>
            <a:solidFill>
              <a:srgbClr val="7F8C8D"/>
            </a:solidFill>
            <a:effectLst/>
          </c:spPr>
          <c:invertIfNegative val="0"/>
          <c:dLbls>
            <c:numFmt formatCode="0.0&quot; %&quot;;;;"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S1 Masse froide</c:v>
                  </c:pt>
                  <c:pt idx="1">
                    <c:v>S2 Jeunes actifs</c:v>
                  </c:pt>
                  <c:pt idx="2">
                    <c:v>S3 Seniors</c:v>
                  </c:pt>
                  <c:pt idx="3">
                    <c:v>S4 Déjà sollicités</c:v>
                  </c:pt>
                </c:lvl>
              </c:multiLvlStrCache>
            </c:multiLvlStrRef>
          </c:cat>
          <c:val>
            <c:numRef>
              <c:f>Sheet1!$B$2:$B$5</c:f>
              <c:numCache>
                <c:formatCode>General</c:formatCode>
                <c:ptCount val="4"/>
                <c:pt idx="0">
                  <c:v>4.9</c:v>
                </c:pt>
                <c:pt idx="1">
                  <c:v>0</c:v>
                </c:pt>
                <c:pt idx="2">
                  <c:v>0</c:v>
                </c:pt>
                <c:pt idx="3">
                  <c:v>0</c:v>
                </c:pt>
              </c:numCache>
            </c:numRef>
          </c:val>
        </c:ser>
        <c:ser>
          <c:idx val="1"/>
          <c:order val="1"/>
          <c:tx>
            <c:strRef>
              <c:f>Sheet1!$C$1</c:f>
              <c:strCache>
                <c:ptCount val="1"/>
                <c:pt idx="0">
                  <c:v>S2 Jeunes actifs</c:v>
                </c:pt>
              </c:strCache>
            </c:strRef>
          </c:tx>
          <c:spPr>
            <a:solidFill>
              <a:srgbClr val="2E86C1"/>
            </a:solidFill>
            <a:effectLst/>
          </c:spPr>
          <c:invertIfNegative val="0"/>
          <c:dLbls>
            <c:numFmt formatCode="0.0&quot; %&quot;;;;"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S1 Masse froide</c:v>
                  </c:pt>
                  <c:pt idx="1">
                    <c:v>S2 Jeunes actifs</c:v>
                  </c:pt>
                  <c:pt idx="2">
                    <c:v>S3 Seniors</c:v>
                  </c:pt>
                  <c:pt idx="3">
                    <c:v>S4 Déjà sollicités</c:v>
                  </c:pt>
                </c:lvl>
              </c:multiLvlStrCache>
            </c:multiLvlStrRef>
          </c:cat>
          <c:val>
            <c:numRef>
              <c:f>Sheet1!$C$2:$C$5</c:f>
              <c:numCache>
                <c:formatCode>General</c:formatCode>
                <c:ptCount val="4"/>
                <c:pt idx="0">
                  <c:v>0</c:v>
                </c:pt>
                <c:pt idx="1">
                  <c:v>17.3</c:v>
                </c:pt>
                <c:pt idx="2">
                  <c:v>0</c:v>
                </c:pt>
                <c:pt idx="3">
                  <c:v>0</c:v>
                </c:pt>
              </c:numCache>
            </c:numRef>
          </c:val>
        </c:ser>
        <c:ser>
          <c:idx val="2"/>
          <c:order val="2"/>
          <c:tx>
            <c:strRef>
              <c:f>Sheet1!$D$1</c:f>
              <c:strCache>
                <c:ptCount val="1"/>
                <c:pt idx="0">
                  <c:v>S3 Seniors</c:v>
                </c:pt>
              </c:strCache>
            </c:strRef>
          </c:tx>
          <c:spPr>
            <a:solidFill>
              <a:srgbClr val="C0392B"/>
            </a:solidFill>
            <a:effectLst/>
          </c:spPr>
          <c:invertIfNegative val="0"/>
          <c:dLbls>
            <c:numFmt formatCode="0.0&quot; %&quot;;;;"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S1 Masse froide</c:v>
                  </c:pt>
                  <c:pt idx="1">
                    <c:v>S2 Jeunes actifs</c:v>
                  </c:pt>
                  <c:pt idx="2">
                    <c:v>S3 Seniors</c:v>
                  </c:pt>
                  <c:pt idx="3">
                    <c:v>S4 Déjà sollicités</c:v>
                  </c:pt>
                </c:lvl>
              </c:multiLvlStrCache>
            </c:multiLvlStrRef>
          </c:cat>
          <c:val>
            <c:numRef>
              <c:f>Sheet1!$D$2:$D$5</c:f>
              <c:numCache>
                <c:formatCode>General</c:formatCode>
                <c:ptCount val="4"/>
                <c:pt idx="0">
                  <c:v>0</c:v>
                </c:pt>
                <c:pt idx="1">
                  <c:v>0</c:v>
                </c:pt>
                <c:pt idx="2">
                  <c:v>42.5</c:v>
                </c:pt>
                <c:pt idx="3">
                  <c:v>0</c:v>
                </c:pt>
              </c:numCache>
            </c:numRef>
          </c:val>
        </c:ser>
        <c:ser>
          <c:idx val="3"/>
          <c:order val="3"/>
          <c:tx>
            <c:strRef>
              <c:f>Sheet1!$E$1</c:f>
              <c:strCache>
                <c:ptCount val="1"/>
                <c:pt idx="0">
                  <c:v>S4 Déjà sollicités</c:v>
                </c:pt>
              </c:strCache>
            </c:strRef>
          </c:tx>
          <c:spPr>
            <a:solidFill>
              <a:srgbClr val="E67E22"/>
            </a:solidFill>
            <a:effectLst/>
          </c:spPr>
          <c:invertIfNegative val="0"/>
          <c:dLbls>
            <c:numFmt formatCode="0.0&quot; %&quot;;;;"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Sheet1!$A$2:$A$5</c:f>
              <c:multiLvlStrCache>
                <c:ptCount val="4"/>
                <c:lvl>
                  <c:pt idx="0">
                    <c:v>S1 Masse froide</c:v>
                  </c:pt>
                  <c:pt idx="1">
                    <c:v>S2 Jeunes actifs</c:v>
                  </c:pt>
                  <c:pt idx="2">
                    <c:v>S3 Seniors</c:v>
                  </c:pt>
                  <c:pt idx="3">
                    <c:v>S4 Déjà sollicités</c:v>
                  </c:pt>
                </c:lvl>
              </c:multiLvlStrCache>
            </c:multiLvlStrRef>
          </c:cat>
          <c:val>
            <c:numRef>
              <c:f>Sheet1!$E$2:$E$5</c:f>
              <c:numCache>
                <c:formatCode>General</c:formatCode>
                <c:ptCount val="4"/>
                <c:pt idx="0">
                  <c:v>0</c:v>
                </c:pt>
                <c:pt idx="1">
                  <c:v>0</c:v>
                </c:pt>
                <c:pt idx="2">
                  <c:v>0</c:v>
                </c:pt>
                <c:pt idx="3">
                  <c:v>22</c:v>
                </c:pt>
              </c:numCache>
            </c:numRef>
          </c:val>
        </c:ser>
        <c:dLbls>
          <c:numFmt formatCode="0.0&quot; %&quot;;;;" sourceLinked="0"/>
          <c:txPr>
            <a:bodyPr/>
            <a:lstStyle/>
            <a:p>
              <a:pPr>
                <a:defRPr b="1" i="0" strike="noStrike" sz="14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A1F2B"/>
                </a:solidFill>
                <a:latin typeface="+mn-lt"/>
              </a:defRPr>
            </a:pPr>
            <a:endParaRPr lang="en-US"/>
          </a:p>
        </c:txPr>
        <c:crossAx val="2094734552"/>
        <c:crosses val="autoZero"/>
        <c:auto val="1"/>
        <c:lblAlgn val="ctr"/>
        <c:noMultiLvlLbl val="1"/>
      </c:catAx>
      <c:valAx>
        <c:axId val="2094734552"/>
        <c:scaling>
          <c:orientation val="minMax"/>
          <c:max val="4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un projet de segmentation de la clientèle d'une banque à partir du jeu Bank Marketing de l'UCI. L'objectif : découvrir des groupes homogènes de clients pour mieux cibler les campagnes de télémarketing, sans jamais utiliser la variable de souscription pour apprendre. Les quatre pastilles colorées sont les quatre segments que nous allons découvrir ; elles reviendront tout au long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mission tient en quatre chiffres : 41 176 clients après suppression de 12 doublons, 13 variables retenues, 7 familles d'algorithmes comparées, et zéro utilisation de la variable cible pendant l'apprentissage — y ne sert qu'à évaluer à la fin. La démarche suit les cinq jours du projet : préparation, distances et partitionnement, méthodes hiérarchiques et par densité, validation, puis interprétation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décisions de préparation. Un : la durée d'appel est exclue, car on ne la connaît qu'après l'appel — c'est une fuite d'information classique sur ce jeu. Deux : les indicateurs macro-économiques sont quasi colinéaires, comme le montre la heatmap ; on n'en garde que deux pour ne pas compter quatre fois la même information. Trois : les valeurs unknown sont imputées intelligemment, et pour default, unknown devient une information en soi. Quatre : deux représentations, l'une encodée et standardisée, l'autre mixte pour la distance de Gower. Nous travaillons sur un échantillon stratifié de 4 000 clients pour les méthodes à matrice de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chapitre 2 en une image : sans standardisation, l'âge, dont l'écart-type est d'environ dix ans, représente 80 % de la distance euclidienne au carré, et l'Euribor ou le nombre de contacts ne pèsent presque rien. Seuls 32 % des plus proches voisins survivent. Avec le z-score, chaque variable pèse environ un sixième. La distance de Gower obtient le même effet en divisant par l'étendue ; elle est très proche de Manhattan, dont elle est une moyenne normalisée. Nous avons aussi calculé Hamming et Jaccard sur le bloc binaire.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 2. K-means sur la représentation encodée, K-medoids sur Gower, K-prototypes sur les données mixtes, et un modèle de mélange gaussien dans l'espace PCA. Chaque méthode choisit k selon son critère propre. Pour comparer équitablement, les indices sont recalculés dans un espace commun. K-means et K-prototypes dominent ; K-medoids a la meilleure silhouette dans sa propre géométrie mais une mauvaise vue depuis l'espace encodé : le choix de la distance change le résultat. Pour le GMM, le BIC ne cesse de baisser jusqu'à k = 10, signe que l'hypothèse gaussienne est violée par les variables discrètes.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 3. La CAH avec quatre liens : le lien simple produit l'effet de chaîne, un seul groupe géant ; average et complete sont fidèles aux distances mais isolent surtout quelques atypiques. Ward donne des groupes équilibrés ; la silhouette au-delà de k = 2 culmine à 4. DBSCAN, réglé par le graphique des k-distances, trouve 6 îlots denses sur UMAP et 11 points de bruit, mais il est très sensible à epsilon et ne sait pas affecter un nouveau client. Il complète K-means sur ses deux faiblesses : formes non convexes et points isolés.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 4. Nous avons calculé silhouette, Davies-Bouldin et Dunn pour toutes les méthodes et toutes les valeurs de k, ainsi que les indices externes. Parmi les solutions actionnables, de 3 à 6 segments sans segment de moins de 5 %, la CAH Ward à k = 4 est première sur les trois critères. Comme la CAH ne passe pas à l'échelle et n'affecte pas de nouveaux clients, on la consolide par K-means initialisé avec ses barycentres : c'est la classification mixte classique. Elle améliore encore silhouette et Davies-Bouldin. Un ARI faible avec y est normal : une segmentation n'a pas vocation à prédire la souscription.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stabilité. En relançant K-means avec 20 graines et une seule initialisation, l'accord moyen varie de 0,6 à 0,9 : d'où l'usage de plusieurs initialisations. En bootstrap, k = 2, 4 et 5 sont stables, k = 3 ne l'est pas. Une fois les centres Ward fixés, notre partition finale est quasiment invariante : ARI de 0,999. En revanche, si l'on refait toute la chaîne, CAH comprise, sur chaque bootstrap, l'ARI tombe à 0,72 : la CAH coupe parfois différemment les petits groupes. Recommandation : figer les centres de référence et les recalculer périodiquement.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segments sur la population complète. S1, la masse froide : 65 % des clients, jamais contactés, joints pour moitié sur fixe, en période de taux élevés, et la plus forte pression d'appel. S2, les jeunes actifs mobiles : plus jeunes, plus de célibataires, sur mobile, en période de taux bas. S3, les seniors épargnants : 47 ans en moyenne, beaucoup de retraités, presque aucun défaut non déclaré. S4, les clients déjà sollicités : tous contactés lors d'une campagne précédente, majoritairement sans succès.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qu'ici que la cible intervient, a posteriori. Les taux de souscription vont de 4,9 % pour la masse froide à 42,5 % pour les seniors épargnants, soit un lift de 3,8. Les segments S2, S3 et S4 ne représentent que 35 % des clients mais 72 % des souscripteurs. Point d'honnêteté : l'analyse chronologique montre un fort effet de période — S1 correspond aux appels de 2008, quand les taux étaient élevés. Une partie de la segmentation reflète donc le contexte économique, ce qui reste actionnable : savoir quand appeler.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action par segment. S1 : arrêter de sur-solliciter, basculer vers des canaux à bas coût et n'appeler qu'après un signal d'intérêt. S2 : une campagne mobile-first avec un produit court et accessible, souscriptible en ligne. S3 : la priorité absolue, confiée à des conseillers dédiés, avec un produit long et sécurisé ; inutile d'insister, un appel suffit. S4 : exploiter l'historique, en relançant les anciens souscripteurs avec une offre de renouvellement et en changeant d'argumentaire pour les échecs.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extensions bonus. Isolation Forest isole 1 % de clients atypiques : plus âgés, avec un long historique ; ils souscrivent à 54 %. La sélection de variables montre le piège du wrapper non supervisé : deux variables binaires donnent une silhouette parfaite sans aucun sens métier ; retirer les indicateurs macro rend la segmentation moins dépendante de la période. L'application Streamlit affecte un nouveau client. Enfin, la démarche a été reproduite sur Online Retail en RFM : les Champions, 16 % des clients, font 65 % du chiffre d'affaires.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de l'application. Le conseiller saisit le profil du client ; l'application applique exactement le même prétraitement qu'à l'entraînement, puis affecte le client au centre le plus proche. Elle affiche le segment, le taux de souscription historique, le lift, l'action recommandée et la position du client sur une projection PCA. Un second onglet traite un fichier CSV entier. Si le temps le permet, je fais la démonstration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pour conclure. Un : la représentation et la distance pèsent autant que l'algorithme. Deux : les indices de validation se lisent ensemble et avec des contraintes métier — la meilleure silhouette correspond ici à la pire segmentation. Trois : nous livrons quatre segments interprétables, stables et déployables, aux taux de souscription très contrastés. Les limites : des silhouettes modestes et une dépendance au contexte de taux, d'où l'idée d'une double segmentation et d'un test A/B des recommandations. Merci,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03320"/>
            <a:ext cx="10698480" cy="9144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1"/>
                </a:solidFill>
              </a:rPr>
              <a:t>Segmentation de clientèle bancaire · Master BDA/IA · UNCHK</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Segmentation de clientèle bancaire par apprentissage non supervisé</a:t>
            </a:r>
            <a:endParaRPr lang="en-US" sz="4400" dirty="0"/>
          </a:p>
        </p:txBody>
      </p:sp>
      <p:sp>
        <p:nvSpPr>
          <p:cNvPr id="3" name="Text 0"/>
          <p:cNvSpPr/>
          <p:nvPr>
            <p:ph idx="101" type="body" hasCustomPrompt="1"/>
          </p:nvPr>
        </p:nvSpPr>
        <p:spPr>
          <a:xfrm>
            <a:off x="731520" y="3703320"/>
            <a:ext cx="10698480" cy="914400"/>
          </a:xfrm>
          <a:prstGeom prst="rect">
            <a:avLst/>
          </a:prstGeom>
          <a:noFill/>
          <a:ln/>
        </p:spPr>
        <p:txBody>
          <a:bodyPr wrap="square" lIns="0" tIns="0" rIns="0" bIns="0" rtlCol="0"/>
          <a:lstStyle/>
          <a:p>
            <a:pPr algn="l" indent="0" marL="0">
              <a:buNone/>
            </a:pPr>
            <a:r>
              <a:rPr lang="en-US" sz="2000" dirty="0">
                <a:solidFill>
                  <a:schemeClr val="accent5"/>
                </a:solidFill>
              </a:rPr>
              <a:t>Bank Marketing (UCI) · 41 176 clients · Projet final — Apprentissage non supervisé</a:t>
            </a:r>
            <a:endParaRPr lang="en-US" sz="2000" dirty="0"/>
          </a:p>
        </p:txBody>
      </p:sp>
      <p:sp>
        <p:nvSpPr>
          <p:cNvPr id="4" name="Pastille S1"/>
          <p:cNvSpPr/>
          <p:nvPr/>
        </p:nvSpPr>
        <p:spPr>
          <a:xfrm>
            <a:off x="731520" y="822960"/>
            <a:ext cx="502920" cy="502920"/>
          </a:xfrm>
          <a:prstGeom prst="ellipse">
            <a:avLst/>
          </a:prstGeom>
          <a:solidFill>
            <a:schemeClr val="accent1"/>
          </a:solidFill>
          <a:ln/>
        </p:spPr>
      </p:sp>
      <p:sp>
        <p:nvSpPr>
          <p:cNvPr id="5" name="Pastille S1 texte"/>
          <p:cNvSpPr txBox="1"/>
          <p:nvPr/>
        </p:nvSpPr>
        <p:spPr>
          <a:xfrm>
            <a:off x="731520" y="8229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S1</a:t>
            </a:r>
            <a:endParaRPr lang="en-US" sz="1400" dirty="0"/>
          </a:p>
        </p:txBody>
      </p:sp>
      <p:sp>
        <p:nvSpPr>
          <p:cNvPr id="6" name="Pastille S2"/>
          <p:cNvSpPr/>
          <p:nvPr/>
        </p:nvSpPr>
        <p:spPr>
          <a:xfrm>
            <a:off x="1417320" y="822960"/>
            <a:ext cx="502920" cy="502920"/>
          </a:xfrm>
          <a:prstGeom prst="ellipse">
            <a:avLst/>
          </a:prstGeom>
          <a:solidFill>
            <a:schemeClr val="accent2"/>
          </a:solidFill>
          <a:ln/>
        </p:spPr>
      </p:sp>
      <p:sp>
        <p:nvSpPr>
          <p:cNvPr id="7" name="Pastille S2 texte"/>
          <p:cNvSpPr txBox="1"/>
          <p:nvPr/>
        </p:nvSpPr>
        <p:spPr>
          <a:xfrm>
            <a:off x="1417320" y="8229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S2</a:t>
            </a:r>
            <a:endParaRPr lang="en-US" sz="1400" dirty="0"/>
          </a:p>
        </p:txBody>
      </p:sp>
      <p:sp>
        <p:nvSpPr>
          <p:cNvPr id="8" name="Pastille S3"/>
          <p:cNvSpPr/>
          <p:nvPr/>
        </p:nvSpPr>
        <p:spPr>
          <a:xfrm>
            <a:off x="2103120" y="822960"/>
            <a:ext cx="502920" cy="502920"/>
          </a:xfrm>
          <a:prstGeom prst="ellipse">
            <a:avLst/>
          </a:prstGeom>
          <a:solidFill>
            <a:schemeClr val="accent3"/>
          </a:solidFill>
          <a:ln/>
        </p:spPr>
      </p:sp>
      <p:sp>
        <p:nvSpPr>
          <p:cNvPr id="9" name="Pastille S3 texte"/>
          <p:cNvSpPr txBox="1"/>
          <p:nvPr/>
        </p:nvSpPr>
        <p:spPr>
          <a:xfrm>
            <a:off x="2103120" y="8229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S3</a:t>
            </a:r>
            <a:endParaRPr lang="en-US" sz="1400" dirty="0"/>
          </a:p>
        </p:txBody>
      </p:sp>
      <p:sp>
        <p:nvSpPr>
          <p:cNvPr id="10" name="Pastille S4"/>
          <p:cNvSpPr/>
          <p:nvPr/>
        </p:nvSpPr>
        <p:spPr>
          <a:xfrm>
            <a:off x="2788920" y="822960"/>
            <a:ext cx="502920" cy="502920"/>
          </a:xfrm>
          <a:prstGeom prst="ellipse">
            <a:avLst/>
          </a:prstGeom>
          <a:solidFill>
            <a:schemeClr val="accent4"/>
          </a:solidFill>
          <a:ln/>
        </p:spPr>
      </p:sp>
      <p:sp>
        <p:nvSpPr>
          <p:cNvPr id="11" name="Pastille S4 texte"/>
          <p:cNvSpPr txBox="1"/>
          <p:nvPr/>
        </p:nvSpPr>
        <p:spPr>
          <a:xfrm>
            <a:off x="2788920" y="8229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S4</a:t>
            </a:r>
            <a:endParaRPr lang="en-US" sz="1400" dirty="0"/>
          </a:p>
        </p:txBody>
      </p:sp>
      <p:sp>
        <p:nvSpPr>
          <p:cNvPr id="12" name="Auteur"/>
          <p:cNvSpPr txBox="1"/>
          <p:nvPr/>
        </p:nvSpPr>
        <p:spPr>
          <a:xfrm>
            <a:off x="731520" y="5760720"/>
            <a:ext cx="10698480" cy="457200"/>
          </a:xfrm>
          <a:prstGeom prst="rect">
            <a:avLst/>
          </a:prstGeom>
          <a:noFill/>
          <a:ln/>
        </p:spPr>
        <p:txBody>
          <a:bodyPr wrap="square" lIns="0" tIns="0" rIns="0" bIns="0" rtlCol="0" anchor="t"/>
          <a:lstStyle/>
          <a:p>
            <a:pPr indent="0" marL="0">
              <a:buNone/>
            </a:pPr>
            <a:r>
              <a:rPr lang="en-US" sz="1600" dirty="0">
                <a:solidFill>
                  <a:schemeClr val="bg2"/>
                </a:solidFill>
              </a:rPr>
              <a:t>Papa Alassane SECK · Master Big Data Analytics / IA · UNCHK · Octobre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Découvrir des segments sans regarder la réponse</a:t>
            </a:r>
            <a:endParaRPr lang="en-US" sz="3200" dirty="0"/>
          </a:p>
        </p:txBody>
      </p:sp>
      <p:sp>
        <p:nvSpPr>
          <p:cNvPr id="3" name="Carte chiffre 1"/>
          <p:cNvSpPr/>
          <p:nvPr/>
        </p:nvSpPr>
        <p:spPr>
          <a:xfrm>
            <a:off x="548640" y="1417320"/>
            <a:ext cx="2560320" cy="1737360"/>
          </a:xfrm>
          <a:prstGeom prst="roundRect">
            <a:avLst>
              <a:gd name="adj" fmla="val 6316"/>
            </a:avLst>
          </a:prstGeom>
          <a:solidFill>
            <a:schemeClr val="bg2"/>
          </a:solidFill>
          <a:ln/>
          <a:effectLst>
            <a:outerShdw sx="100000" sy="100000" kx="0" ky="0" algn="bl" rotWithShape="0" blurRad="76200" dist="25400" dir="5400000">
              <a:srgbClr val="000000">
                <a:alpha val="12000"/>
              </a:srgbClr>
            </a:outerShdw>
          </a:effectLst>
        </p:spPr>
      </p:sp>
      <p:sp>
        <p:nvSpPr>
          <p:cNvPr id="4" name="Chiffre 1"/>
          <p:cNvSpPr txBox="1"/>
          <p:nvPr/>
        </p:nvSpPr>
        <p:spPr>
          <a:xfrm>
            <a:off x="777240" y="1600200"/>
            <a:ext cx="2103120" cy="86868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41 176</a:t>
            </a:r>
            <a:endParaRPr lang="en-US" sz="4800" dirty="0"/>
          </a:p>
        </p:txBody>
      </p:sp>
      <p:sp>
        <p:nvSpPr>
          <p:cNvPr id="5" name="Libellé chiffre 1"/>
          <p:cNvSpPr txBox="1"/>
          <p:nvPr/>
        </p:nvSpPr>
        <p:spPr>
          <a:xfrm>
            <a:off x="777240" y="2514600"/>
            <a:ext cx="2103120" cy="502920"/>
          </a:xfrm>
          <a:prstGeom prst="rect">
            <a:avLst/>
          </a:prstGeom>
          <a:noFill/>
          <a:ln/>
        </p:spPr>
        <p:txBody>
          <a:bodyPr wrap="square" lIns="0" tIns="0" rIns="0" bIns="0" rtlCol="0" anchor="t"/>
          <a:lstStyle/>
          <a:p>
            <a:pPr indent="0" marL="0">
              <a:buNone/>
            </a:pPr>
            <a:r>
              <a:rPr lang="en-US" sz="1500" dirty="0">
                <a:solidFill>
                  <a:schemeClr val="tx1"/>
                </a:solidFill>
              </a:rPr>
              <a:t>clients après nettoyage</a:t>
            </a:r>
            <a:endParaRPr lang="en-US" sz="1500" dirty="0"/>
          </a:p>
        </p:txBody>
      </p:sp>
      <p:sp>
        <p:nvSpPr>
          <p:cNvPr id="6" name="Carte chiffre 2"/>
          <p:cNvSpPr/>
          <p:nvPr/>
        </p:nvSpPr>
        <p:spPr>
          <a:xfrm>
            <a:off x="3364992" y="1417320"/>
            <a:ext cx="2560320" cy="1737360"/>
          </a:xfrm>
          <a:prstGeom prst="roundRect">
            <a:avLst>
              <a:gd name="adj" fmla="val 6316"/>
            </a:avLst>
          </a:prstGeom>
          <a:solidFill>
            <a:schemeClr val="bg2"/>
          </a:solidFill>
          <a:ln/>
          <a:effectLst>
            <a:outerShdw sx="100000" sy="100000" kx="0" ky="0" algn="bl" rotWithShape="0" blurRad="76200" dist="25400" dir="5400000">
              <a:srgbClr val="000000">
                <a:alpha val="12000"/>
              </a:srgbClr>
            </a:outerShdw>
          </a:effectLst>
        </p:spPr>
      </p:sp>
      <p:sp>
        <p:nvSpPr>
          <p:cNvPr id="7" name="Chiffre 2"/>
          <p:cNvSpPr txBox="1"/>
          <p:nvPr/>
        </p:nvSpPr>
        <p:spPr>
          <a:xfrm>
            <a:off x="3593592" y="1600200"/>
            <a:ext cx="2103120" cy="86868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13</a:t>
            </a:r>
            <a:endParaRPr lang="en-US" sz="4800" dirty="0"/>
          </a:p>
        </p:txBody>
      </p:sp>
      <p:sp>
        <p:nvSpPr>
          <p:cNvPr id="8" name="Libellé chiffre 2"/>
          <p:cNvSpPr txBox="1"/>
          <p:nvPr/>
        </p:nvSpPr>
        <p:spPr>
          <a:xfrm>
            <a:off x="3593592" y="2514600"/>
            <a:ext cx="2103120" cy="502920"/>
          </a:xfrm>
          <a:prstGeom prst="rect">
            <a:avLst/>
          </a:prstGeom>
          <a:noFill/>
          <a:ln/>
        </p:spPr>
        <p:txBody>
          <a:bodyPr wrap="square" lIns="0" tIns="0" rIns="0" bIns="0" rtlCol="0" anchor="t"/>
          <a:lstStyle/>
          <a:p>
            <a:pPr indent="0" marL="0">
              <a:buNone/>
            </a:pPr>
            <a:r>
              <a:rPr lang="en-US" sz="1500" dirty="0">
                <a:solidFill>
                  <a:schemeClr val="tx1"/>
                </a:solidFill>
              </a:rPr>
              <a:t>variables de segmentation</a:t>
            </a:r>
            <a:endParaRPr lang="en-US" sz="1500" dirty="0"/>
          </a:p>
        </p:txBody>
      </p:sp>
      <p:sp>
        <p:nvSpPr>
          <p:cNvPr id="9" name="Carte chiffre 3"/>
          <p:cNvSpPr/>
          <p:nvPr/>
        </p:nvSpPr>
        <p:spPr>
          <a:xfrm>
            <a:off x="6181344" y="1417320"/>
            <a:ext cx="2560320" cy="1737360"/>
          </a:xfrm>
          <a:prstGeom prst="roundRect">
            <a:avLst>
              <a:gd name="adj" fmla="val 6316"/>
            </a:avLst>
          </a:prstGeom>
          <a:solidFill>
            <a:schemeClr val="bg2"/>
          </a:solidFill>
          <a:ln/>
          <a:effectLst>
            <a:outerShdw sx="100000" sy="100000" kx="0" ky="0" algn="bl" rotWithShape="0" blurRad="76200" dist="25400" dir="5400000">
              <a:srgbClr val="000000">
                <a:alpha val="12000"/>
              </a:srgbClr>
            </a:outerShdw>
          </a:effectLst>
        </p:spPr>
      </p:sp>
      <p:sp>
        <p:nvSpPr>
          <p:cNvPr id="10" name="Chiffre 3"/>
          <p:cNvSpPr txBox="1"/>
          <p:nvPr/>
        </p:nvSpPr>
        <p:spPr>
          <a:xfrm>
            <a:off x="6409944" y="1600200"/>
            <a:ext cx="2103120" cy="868680"/>
          </a:xfrm>
          <a:prstGeom prst="rect">
            <a:avLst/>
          </a:prstGeom>
          <a:noFill/>
          <a:ln/>
        </p:spPr>
        <p:txBody>
          <a:bodyPr wrap="square" lIns="0" tIns="0" rIns="0" bIns="0" rtlCol="0" anchor="t"/>
          <a:lstStyle/>
          <a:p>
            <a:pPr indent="0" marL="0">
              <a:buNone/>
            </a:pPr>
            <a:r>
              <a:rPr lang="en-US" sz="4800" b="1" dirty="0">
                <a:solidFill>
                  <a:schemeClr val="tx2"/>
                </a:solidFill>
                <a:latin typeface="Cambria" pitchFamily="34" charset="0"/>
                <a:ea typeface="Cambria" pitchFamily="34" charset="-122"/>
                <a:cs typeface="Cambria" pitchFamily="34" charset="-120"/>
              </a:rPr>
              <a:t>7</a:t>
            </a:r>
            <a:endParaRPr lang="en-US" sz="4800" dirty="0"/>
          </a:p>
        </p:txBody>
      </p:sp>
      <p:sp>
        <p:nvSpPr>
          <p:cNvPr id="11" name="Libellé chiffre 3"/>
          <p:cNvSpPr txBox="1"/>
          <p:nvPr/>
        </p:nvSpPr>
        <p:spPr>
          <a:xfrm>
            <a:off x="6409944" y="2514600"/>
            <a:ext cx="2103120" cy="502920"/>
          </a:xfrm>
          <a:prstGeom prst="rect">
            <a:avLst/>
          </a:prstGeom>
          <a:noFill/>
          <a:ln/>
        </p:spPr>
        <p:txBody>
          <a:bodyPr wrap="square" lIns="0" tIns="0" rIns="0" bIns="0" rtlCol="0" anchor="t"/>
          <a:lstStyle/>
          <a:p>
            <a:pPr indent="0" marL="0">
              <a:buNone/>
            </a:pPr>
            <a:r>
              <a:rPr lang="en-US" sz="1500" dirty="0">
                <a:solidFill>
                  <a:schemeClr val="tx1"/>
                </a:solidFill>
              </a:rPr>
              <a:t>familles d'algorithmes</a:t>
            </a:r>
            <a:endParaRPr lang="en-US" sz="1500" dirty="0"/>
          </a:p>
        </p:txBody>
      </p:sp>
      <p:sp>
        <p:nvSpPr>
          <p:cNvPr id="12" name="Carte chiffre 4"/>
          <p:cNvSpPr/>
          <p:nvPr/>
        </p:nvSpPr>
        <p:spPr>
          <a:xfrm>
            <a:off x="8997696" y="1417320"/>
            <a:ext cx="2560320" cy="1737360"/>
          </a:xfrm>
          <a:prstGeom prst="roundRect">
            <a:avLst>
              <a:gd name="adj" fmla="val 6316"/>
            </a:avLst>
          </a:prstGeom>
          <a:solidFill>
            <a:schemeClr val="bg2"/>
          </a:solidFill>
          <a:ln/>
          <a:effectLst>
            <a:outerShdw sx="100000" sy="100000" kx="0" ky="0" algn="bl" rotWithShape="0" blurRad="76200" dist="25400" dir="5400000">
              <a:srgbClr val="000000">
                <a:alpha val="12000"/>
              </a:srgbClr>
            </a:outerShdw>
          </a:effectLst>
        </p:spPr>
      </p:sp>
      <p:sp>
        <p:nvSpPr>
          <p:cNvPr id="13" name="Chiffre 4"/>
          <p:cNvSpPr txBox="1"/>
          <p:nvPr/>
        </p:nvSpPr>
        <p:spPr>
          <a:xfrm>
            <a:off x="9226296" y="1600200"/>
            <a:ext cx="2103120" cy="868680"/>
          </a:xfrm>
          <a:prstGeom prst="rect">
            <a:avLst/>
          </a:prstGeom>
          <a:noFill/>
          <a:ln/>
        </p:spPr>
        <p:txBody>
          <a:bodyPr wrap="square" lIns="0" tIns="0" rIns="0" bIns="0" rtlCol="0" anchor="t"/>
          <a:lstStyle/>
          <a:p>
            <a:pPr indent="0" marL="0">
              <a:buNone/>
            </a:pPr>
            <a:r>
              <a:rPr lang="en-US" sz="4800" b="1" dirty="0">
                <a:solidFill>
                  <a:schemeClr val="accent3"/>
                </a:solidFill>
                <a:latin typeface="Cambria" pitchFamily="34" charset="0"/>
                <a:ea typeface="Cambria" pitchFamily="34" charset="-122"/>
                <a:cs typeface="Cambria" pitchFamily="34" charset="-120"/>
              </a:rPr>
              <a:t>0</a:t>
            </a:r>
            <a:endParaRPr lang="en-US" sz="4800" dirty="0"/>
          </a:p>
        </p:txBody>
      </p:sp>
      <p:sp>
        <p:nvSpPr>
          <p:cNvPr id="14" name="Libellé chiffre 4"/>
          <p:cNvSpPr txBox="1"/>
          <p:nvPr/>
        </p:nvSpPr>
        <p:spPr>
          <a:xfrm>
            <a:off x="9226296" y="2514600"/>
            <a:ext cx="2103120" cy="502920"/>
          </a:xfrm>
          <a:prstGeom prst="rect">
            <a:avLst/>
          </a:prstGeom>
          <a:noFill/>
          <a:ln/>
        </p:spPr>
        <p:txBody>
          <a:bodyPr wrap="square" lIns="0" tIns="0" rIns="0" bIns="0" rtlCol="0" anchor="t"/>
          <a:lstStyle/>
          <a:p>
            <a:pPr indent="0" marL="0">
              <a:buNone/>
            </a:pPr>
            <a:r>
              <a:rPr lang="en-US" sz="1500" dirty="0">
                <a:solidFill>
                  <a:schemeClr val="tx1"/>
                </a:solidFill>
              </a:rPr>
              <a:t>usage de y à l'entraînement</a:t>
            </a:r>
            <a:endParaRPr lang="en-US" sz="1500" dirty="0"/>
          </a:p>
        </p:txBody>
      </p:sp>
      <p:sp>
        <p:nvSpPr>
          <p:cNvPr id="15" name="Frise"/>
          <p:cNvSpPr/>
          <p:nvPr/>
        </p:nvSpPr>
        <p:spPr>
          <a:xfrm>
            <a:off x="914400" y="4160520"/>
            <a:ext cx="10058400" cy="0"/>
          </a:xfrm>
          <a:prstGeom prst="line">
            <a:avLst/>
          </a:prstGeom>
          <a:noFill/>
          <a:ln w="19050">
            <a:solidFill>
              <a:schemeClr val="accent1"/>
            </a:solidFill>
            <a:prstDash val="dash"/>
          </a:ln>
        </p:spPr>
      </p:sp>
      <p:sp>
        <p:nvSpPr>
          <p:cNvPr id="16" name="Étape J1"/>
          <p:cNvSpPr/>
          <p:nvPr/>
        </p:nvSpPr>
        <p:spPr>
          <a:xfrm>
            <a:off x="548640" y="3794760"/>
            <a:ext cx="731520" cy="731520"/>
          </a:xfrm>
          <a:prstGeom prst="ellipse">
            <a:avLst/>
          </a:prstGeom>
          <a:solidFill>
            <a:schemeClr val="tx2"/>
          </a:solidFill>
          <a:ln/>
        </p:spPr>
      </p:sp>
      <p:sp>
        <p:nvSpPr>
          <p:cNvPr id="17" name="Étape J1 texte"/>
          <p:cNvSpPr txBox="1"/>
          <p:nvPr/>
        </p:nvSpPr>
        <p:spPr>
          <a:xfrm>
            <a:off x="548640" y="37947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J1</a:t>
            </a:r>
            <a:endParaRPr lang="en-US" sz="1600" dirty="0"/>
          </a:p>
        </p:txBody>
      </p:sp>
      <p:sp>
        <p:nvSpPr>
          <p:cNvPr id="18" name="Titre étape J1"/>
          <p:cNvSpPr txBox="1"/>
          <p:nvPr/>
        </p:nvSpPr>
        <p:spPr>
          <a:xfrm>
            <a:off x="548640" y="4663440"/>
            <a:ext cx="2103120" cy="411480"/>
          </a:xfrm>
          <a:prstGeom prst="rect">
            <a:avLst/>
          </a:prstGeom>
          <a:noFill/>
          <a:ln/>
        </p:spPr>
        <p:txBody>
          <a:bodyPr wrap="square" lIns="0" tIns="0" rIns="0" bIns="0" rtlCol="0" anchor="t"/>
          <a:lstStyle/>
          <a:p>
            <a:pPr indent="0" marL="0">
              <a:buNone/>
            </a:pPr>
            <a:r>
              <a:rPr lang="en-US" sz="1600" b="1" dirty="0">
                <a:solidFill>
                  <a:schemeClr val="tx2"/>
                </a:solidFill>
              </a:rPr>
              <a:t>Préparer</a:t>
            </a:r>
            <a:endParaRPr lang="en-US" sz="1600" dirty="0"/>
          </a:p>
        </p:txBody>
      </p:sp>
      <p:sp>
        <p:nvSpPr>
          <p:cNvPr id="19" name="Détail étape J1"/>
          <p:cNvSpPr txBox="1"/>
          <p:nvPr/>
        </p:nvSpPr>
        <p:spPr>
          <a:xfrm>
            <a:off x="548640" y="5074920"/>
            <a:ext cx="2103120" cy="1005840"/>
          </a:xfrm>
          <a:prstGeom prst="rect">
            <a:avLst/>
          </a:prstGeom>
          <a:noFill/>
          <a:ln/>
        </p:spPr>
        <p:txBody>
          <a:bodyPr wrap="square" lIns="0" tIns="0" rIns="0" bIns="0" rtlCol="0" anchor="t"/>
          <a:lstStyle/>
          <a:p>
            <a:pPr indent="0" marL="0">
              <a:buNone/>
            </a:pPr>
            <a:r>
              <a:rPr lang="en-US" sz="1400" dirty="0">
                <a:solidFill>
                  <a:schemeClr val="tx1"/>
                </a:solidFill>
              </a:rPr>
              <a:t>nettoyage, encodage, PCA/t-SNE/UMAP</a:t>
            </a:r>
            <a:endParaRPr lang="en-US" sz="1400" dirty="0"/>
          </a:p>
        </p:txBody>
      </p:sp>
      <p:sp>
        <p:nvSpPr>
          <p:cNvPr id="20" name="Étape J2"/>
          <p:cNvSpPr/>
          <p:nvPr/>
        </p:nvSpPr>
        <p:spPr>
          <a:xfrm>
            <a:off x="2816352" y="3794760"/>
            <a:ext cx="731520" cy="731520"/>
          </a:xfrm>
          <a:prstGeom prst="ellipse">
            <a:avLst/>
          </a:prstGeom>
          <a:solidFill>
            <a:schemeClr val="tx2"/>
          </a:solidFill>
          <a:ln/>
        </p:spPr>
      </p:sp>
      <p:sp>
        <p:nvSpPr>
          <p:cNvPr id="21" name="Étape J2 texte"/>
          <p:cNvSpPr txBox="1"/>
          <p:nvPr/>
        </p:nvSpPr>
        <p:spPr>
          <a:xfrm>
            <a:off x="2816352" y="37947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J2</a:t>
            </a:r>
            <a:endParaRPr lang="en-US" sz="1600" dirty="0"/>
          </a:p>
        </p:txBody>
      </p:sp>
      <p:sp>
        <p:nvSpPr>
          <p:cNvPr id="22" name="Titre étape J2"/>
          <p:cNvSpPr txBox="1"/>
          <p:nvPr/>
        </p:nvSpPr>
        <p:spPr>
          <a:xfrm>
            <a:off x="2816352" y="4663440"/>
            <a:ext cx="2103120" cy="411480"/>
          </a:xfrm>
          <a:prstGeom prst="rect">
            <a:avLst/>
          </a:prstGeom>
          <a:noFill/>
          <a:ln/>
        </p:spPr>
        <p:txBody>
          <a:bodyPr wrap="square" lIns="0" tIns="0" rIns="0" bIns="0" rtlCol="0" anchor="t"/>
          <a:lstStyle/>
          <a:p>
            <a:pPr indent="0" marL="0">
              <a:buNone/>
            </a:pPr>
            <a:r>
              <a:rPr lang="en-US" sz="1600" b="1" dirty="0">
                <a:solidFill>
                  <a:schemeClr val="tx2"/>
                </a:solidFill>
              </a:rPr>
              <a:t>Mesurer et partitionner</a:t>
            </a:r>
            <a:endParaRPr lang="en-US" sz="1600" dirty="0"/>
          </a:p>
        </p:txBody>
      </p:sp>
      <p:sp>
        <p:nvSpPr>
          <p:cNvPr id="23" name="Détail étape J2"/>
          <p:cNvSpPr txBox="1"/>
          <p:nvPr/>
        </p:nvSpPr>
        <p:spPr>
          <a:xfrm>
            <a:off x="2816352" y="5074920"/>
            <a:ext cx="2103120" cy="1005840"/>
          </a:xfrm>
          <a:prstGeom prst="rect">
            <a:avLst/>
          </a:prstGeom>
          <a:noFill/>
          <a:ln/>
        </p:spPr>
        <p:txBody>
          <a:bodyPr wrap="square" lIns="0" tIns="0" rIns="0" bIns="0" rtlCol="0" anchor="t"/>
          <a:lstStyle/>
          <a:p>
            <a:pPr indent="0" marL="0">
              <a:buNone/>
            </a:pPr>
            <a:r>
              <a:rPr lang="en-US" sz="1400" dirty="0">
                <a:solidFill>
                  <a:schemeClr val="tx1"/>
                </a:solidFill>
              </a:rPr>
              <a:t>5 distances, K-means, K-medoids, K-prototypes, GMM</a:t>
            </a:r>
            <a:endParaRPr lang="en-US" sz="1400" dirty="0"/>
          </a:p>
        </p:txBody>
      </p:sp>
      <p:sp>
        <p:nvSpPr>
          <p:cNvPr id="24" name="Étape J3"/>
          <p:cNvSpPr/>
          <p:nvPr/>
        </p:nvSpPr>
        <p:spPr>
          <a:xfrm>
            <a:off x="5084064" y="3794760"/>
            <a:ext cx="731520" cy="731520"/>
          </a:xfrm>
          <a:prstGeom prst="ellipse">
            <a:avLst/>
          </a:prstGeom>
          <a:solidFill>
            <a:schemeClr val="tx2"/>
          </a:solidFill>
          <a:ln/>
        </p:spPr>
      </p:sp>
      <p:sp>
        <p:nvSpPr>
          <p:cNvPr id="25" name="Étape J3 texte"/>
          <p:cNvSpPr txBox="1"/>
          <p:nvPr/>
        </p:nvSpPr>
        <p:spPr>
          <a:xfrm>
            <a:off x="5084064" y="37947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J3</a:t>
            </a:r>
            <a:endParaRPr lang="en-US" sz="1600" dirty="0"/>
          </a:p>
        </p:txBody>
      </p:sp>
      <p:sp>
        <p:nvSpPr>
          <p:cNvPr id="26" name="Titre étape J3"/>
          <p:cNvSpPr txBox="1"/>
          <p:nvPr/>
        </p:nvSpPr>
        <p:spPr>
          <a:xfrm>
            <a:off x="5084064" y="4663440"/>
            <a:ext cx="2103120" cy="411480"/>
          </a:xfrm>
          <a:prstGeom prst="rect">
            <a:avLst/>
          </a:prstGeom>
          <a:noFill/>
          <a:ln/>
        </p:spPr>
        <p:txBody>
          <a:bodyPr wrap="square" lIns="0" tIns="0" rIns="0" bIns="0" rtlCol="0" anchor="t"/>
          <a:lstStyle/>
          <a:p>
            <a:pPr indent="0" marL="0">
              <a:buNone/>
            </a:pPr>
            <a:r>
              <a:rPr lang="en-US" sz="1600" b="1" dirty="0">
                <a:solidFill>
                  <a:schemeClr val="tx2"/>
                </a:solidFill>
              </a:rPr>
              <a:t>Hiérarchie et densité</a:t>
            </a:r>
            <a:endParaRPr lang="en-US" sz="1600" dirty="0"/>
          </a:p>
        </p:txBody>
      </p:sp>
      <p:sp>
        <p:nvSpPr>
          <p:cNvPr id="27" name="Détail étape J3"/>
          <p:cNvSpPr txBox="1"/>
          <p:nvPr/>
        </p:nvSpPr>
        <p:spPr>
          <a:xfrm>
            <a:off x="5084064" y="5074920"/>
            <a:ext cx="2103120" cy="1005840"/>
          </a:xfrm>
          <a:prstGeom prst="rect">
            <a:avLst/>
          </a:prstGeom>
          <a:noFill/>
          <a:ln/>
        </p:spPr>
        <p:txBody>
          <a:bodyPr wrap="square" lIns="0" tIns="0" rIns="0" bIns="0" rtlCol="0" anchor="t"/>
          <a:lstStyle/>
          <a:p>
            <a:pPr indent="0" marL="0">
              <a:buNone/>
            </a:pPr>
            <a:r>
              <a:rPr lang="en-US" sz="1400" dirty="0">
                <a:solidFill>
                  <a:schemeClr val="tx1"/>
                </a:solidFill>
              </a:rPr>
              <a:t>CAH 4 liens, DBSCAN</a:t>
            </a:r>
            <a:endParaRPr lang="en-US" sz="1400" dirty="0"/>
          </a:p>
        </p:txBody>
      </p:sp>
      <p:sp>
        <p:nvSpPr>
          <p:cNvPr id="28" name="Étape J4"/>
          <p:cNvSpPr/>
          <p:nvPr/>
        </p:nvSpPr>
        <p:spPr>
          <a:xfrm>
            <a:off x="7351776" y="3794760"/>
            <a:ext cx="731520" cy="731520"/>
          </a:xfrm>
          <a:prstGeom prst="ellipse">
            <a:avLst/>
          </a:prstGeom>
          <a:solidFill>
            <a:schemeClr val="tx2"/>
          </a:solidFill>
          <a:ln/>
        </p:spPr>
      </p:sp>
      <p:sp>
        <p:nvSpPr>
          <p:cNvPr id="29" name="Étape J4 texte"/>
          <p:cNvSpPr txBox="1"/>
          <p:nvPr/>
        </p:nvSpPr>
        <p:spPr>
          <a:xfrm>
            <a:off x="7351776" y="37947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J4</a:t>
            </a:r>
            <a:endParaRPr lang="en-US" sz="1600" dirty="0"/>
          </a:p>
        </p:txBody>
      </p:sp>
      <p:sp>
        <p:nvSpPr>
          <p:cNvPr id="30" name="Titre étape J4"/>
          <p:cNvSpPr txBox="1"/>
          <p:nvPr/>
        </p:nvSpPr>
        <p:spPr>
          <a:xfrm>
            <a:off x="7351776" y="4663440"/>
            <a:ext cx="2103120" cy="411480"/>
          </a:xfrm>
          <a:prstGeom prst="rect">
            <a:avLst/>
          </a:prstGeom>
          <a:noFill/>
          <a:ln/>
        </p:spPr>
        <p:txBody>
          <a:bodyPr wrap="square" lIns="0" tIns="0" rIns="0" bIns="0" rtlCol="0" anchor="t"/>
          <a:lstStyle/>
          <a:p>
            <a:pPr indent="0" marL="0">
              <a:buNone/>
            </a:pPr>
            <a:r>
              <a:rPr lang="en-US" sz="1600" b="1" dirty="0">
                <a:solidFill>
                  <a:schemeClr val="tx2"/>
                </a:solidFill>
              </a:rPr>
              <a:t>Valider</a:t>
            </a:r>
            <a:endParaRPr lang="en-US" sz="1600" dirty="0"/>
          </a:p>
        </p:txBody>
      </p:sp>
      <p:sp>
        <p:nvSpPr>
          <p:cNvPr id="31" name="Détail étape J4"/>
          <p:cNvSpPr txBox="1"/>
          <p:nvPr/>
        </p:nvSpPr>
        <p:spPr>
          <a:xfrm>
            <a:off x="7351776" y="5074920"/>
            <a:ext cx="2103120" cy="1005840"/>
          </a:xfrm>
          <a:prstGeom prst="rect">
            <a:avLst/>
          </a:prstGeom>
          <a:noFill/>
          <a:ln/>
        </p:spPr>
        <p:txBody>
          <a:bodyPr wrap="square" lIns="0" tIns="0" rIns="0" bIns="0" rtlCol="0" anchor="t"/>
          <a:lstStyle/>
          <a:p>
            <a:pPr indent="0" marL="0">
              <a:buNone/>
            </a:pPr>
            <a:r>
              <a:rPr lang="en-US" sz="1400" dirty="0">
                <a:solidFill>
                  <a:schemeClr val="tx1"/>
                </a:solidFill>
              </a:rPr>
              <a:t>indices internes, externes, stabilité</a:t>
            </a:r>
            <a:endParaRPr lang="en-US" sz="1400" dirty="0"/>
          </a:p>
        </p:txBody>
      </p:sp>
      <p:sp>
        <p:nvSpPr>
          <p:cNvPr id="32" name="Étape J5"/>
          <p:cNvSpPr/>
          <p:nvPr/>
        </p:nvSpPr>
        <p:spPr>
          <a:xfrm>
            <a:off x="9619488" y="3794760"/>
            <a:ext cx="731520" cy="731520"/>
          </a:xfrm>
          <a:prstGeom prst="ellipse">
            <a:avLst/>
          </a:prstGeom>
          <a:solidFill>
            <a:schemeClr val="tx2"/>
          </a:solidFill>
          <a:ln/>
        </p:spPr>
      </p:sp>
      <p:sp>
        <p:nvSpPr>
          <p:cNvPr id="33" name="Étape J5 texte"/>
          <p:cNvSpPr txBox="1"/>
          <p:nvPr/>
        </p:nvSpPr>
        <p:spPr>
          <a:xfrm>
            <a:off x="9619488" y="3794760"/>
            <a:ext cx="731520" cy="731520"/>
          </a:xfrm>
          <a:prstGeom prst="rect">
            <a:avLst/>
          </a:prstGeom>
          <a:noFill/>
          <a:ln/>
        </p:spPr>
        <p:txBody>
          <a:bodyPr wrap="square" lIns="0" tIns="0" rIns="0" bIns="0" rtlCol="0" anchor="ctr"/>
          <a:lstStyle/>
          <a:p>
            <a:pPr algn="ctr" indent="0" marL="0">
              <a:buNone/>
            </a:pPr>
            <a:r>
              <a:rPr lang="en-US" sz="1600" b="1" dirty="0">
                <a:solidFill>
                  <a:schemeClr val="bg1"/>
                </a:solidFill>
              </a:rPr>
              <a:t>J5</a:t>
            </a:r>
            <a:endParaRPr lang="en-US" sz="1600" dirty="0"/>
          </a:p>
        </p:txBody>
      </p:sp>
      <p:sp>
        <p:nvSpPr>
          <p:cNvPr id="34" name="Titre étape J5"/>
          <p:cNvSpPr txBox="1"/>
          <p:nvPr/>
        </p:nvSpPr>
        <p:spPr>
          <a:xfrm>
            <a:off x="9619488" y="4663440"/>
            <a:ext cx="2103120" cy="411480"/>
          </a:xfrm>
          <a:prstGeom prst="rect">
            <a:avLst/>
          </a:prstGeom>
          <a:noFill/>
          <a:ln/>
        </p:spPr>
        <p:txBody>
          <a:bodyPr wrap="square" lIns="0" tIns="0" rIns="0" bIns="0" rtlCol="0" anchor="t"/>
          <a:lstStyle/>
          <a:p>
            <a:pPr indent="0" marL="0">
              <a:buNone/>
            </a:pPr>
            <a:r>
              <a:rPr lang="en-US" sz="1600" b="1" dirty="0">
                <a:solidFill>
                  <a:schemeClr val="tx2"/>
                </a:solidFill>
              </a:rPr>
              <a:t>Interpréter</a:t>
            </a:r>
            <a:endParaRPr lang="en-US" sz="1600" dirty="0"/>
          </a:p>
        </p:txBody>
      </p:sp>
      <p:sp>
        <p:nvSpPr>
          <p:cNvPr id="35" name="Détail étape J5"/>
          <p:cNvSpPr txBox="1"/>
          <p:nvPr/>
        </p:nvSpPr>
        <p:spPr>
          <a:xfrm>
            <a:off x="9619488" y="5074920"/>
            <a:ext cx="2103120" cy="1005840"/>
          </a:xfrm>
          <a:prstGeom prst="rect">
            <a:avLst/>
          </a:prstGeom>
          <a:noFill/>
          <a:ln/>
        </p:spPr>
        <p:txBody>
          <a:bodyPr wrap="square" lIns="0" tIns="0" rIns="0" bIns="0" rtlCol="0" anchor="t"/>
          <a:lstStyle/>
          <a:p>
            <a:pPr indent="0" marL="0">
              <a:buNone/>
            </a:pPr>
            <a:r>
              <a:rPr lang="en-US" sz="1400" dirty="0">
                <a:solidFill>
                  <a:schemeClr val="tx1"/>
                </a:solidFill>
              </a:rPr>
              <a:t>profils, souscription, actions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Préparer : quatre décisions qui changent tout</a:t>
            </a:r>
            <a:endParaRPr lang="en-US" sz="3200" dirty="0"/>
          </a:p>
        </p:txBody>
      </p:sp>
      <p:sp>
        <p:nvSpPr>
          <p:cNvPr id="3" name="Décision 1"/>
          <p:cNvSpPr/>
          <p:nvPr/>
        </p:nvSpPr>
        <p:spPr>
          <a:xfrm>
            <a:off x="548640" y="1417320"/>
            <a:ext cx="548640" cy="548640"/>
          </a:xfrm>
          <a:prstGeom prst="ellipse">
            <a:avLst/>
          </a:prstGeom>
          <a:solidFill>
            <a:schemeClr val="tx2"/>
          </a:solidFill>
          <a:ln/>
        </p:spPr>
      </p:sp>
      <p:sp>
        <p:nvSpPr>
          <p:cNvPr id="4" name="Décision 1 texte"/>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itre décision 1"/>
          <p:cNvSpPr txBox="1"/>
          <p:nvPr/>
        </p:nvSpPr>
        <p:spPr>
          <a:xfrm>
            <a:off x="1325880" y="1371600"/>
            <a:ext cx="5120640" cy="365760"/>
          </a:xfrm>
          <a:prstGeom prst="rect">
            <a:avLst/>
          </a:prstGeom>
          <a:noFill/>
          <a:ln/>
        </p:spPr>
        <p:txBody>
          <a:bodyPr wrap="square" lIns="0" tIns="0" rIns="0" bIns="0" rtlCol="0" anchor="t"/>
          <a:lstStyle/>
          <a:p>
            <a:pPr indent="0" marL="0">
              <a:buNone/>
            </a:pPr>
            <a:r>
              <a:rPr lang="en-US" sz="1800" b="1" dirty="0">
                <a:solidFill>
                  <a:schemeClr val="tx2"/>
                </a:solidFill>
              </a:rPr>
              <a:t>duration exclue</a:t>
            </a:r>
            <a:endParaRPr lang="en-US" sz="1800" dirty="0"/>
          </a:p>
        </p:txBody>
      </p:sp>
      <p:sp>
        <p:nvSpPr>
          <p:cNvPr id="6" name="Texte décision 1"/>
          <p:cNvSpPr txBox="1"/>
          <p:nvPr/>
        </p:nvSpPr>
        <p:spPr>
          <a:xfrm>
            <a:off x="1325880" y="1755648"/>
            <a:ext cx="5120640" cy="731520"/>
          </a:xfrm>
          <a:prstGeom prst="rect">
            <a:avLst/>
          </a:prstGeom>
          <a:noFill/>
          <a:ln/>
        </p:spPr>
        <p:txBody>
          <a:bodyPr wrap="square" lIns="0" tIns="0" rIns="0" bIns="0" rtlCol="0" anchor="t"/>
          <a:lstStyle/>
          <a:p>
            <a:pPr indent="0" marL="0">
              <a:buNone/>
            </a:pPr>
            <a:r>
              <a:rPr lang="en-US" sz="1400" dirty="0">
                <a:solidFill>
                  <a:schemeClr val="tx1"/>
                </a:solidFill>
              </a:rPr>
              <a:t>Connue seulement après l'appel : l'utiliser serait une fuite d'information.</a:t>
            </a:r>
            <a:endParaRPr lang="en-US" sz="1400" dirty="0"/>
          </a:p>
        </p:txBody>
      </p:sp>
      <p:sp>
        <p:nvSpPr>
          <p:cNvPr id="7" name="Décision 2"/>
          <p:cNvSpPr/>
          <p:nvPr/>
        </p:nvSpPr>
        <p:spPr>
          <a:xfrm>
            <a:off x="548640" y="2624328"/>
            <a:ext cx="548640" cy="548640"/>
          </a:xfrm>
          <a:prstGeom prst="ellipse">
            <a:avLst/>
          </a:prstGeom>
          <a:solidFill>
            <a:schemeClr val="tx2"/>
          </a:solidFill>
          <a:ln/>
        </p:spPr>
      </p:sp>
      <p:sp>
        <p:nvSpPr>
          <p:cNvPr id="8" name="Décision 2 texte"/>
          <p:cNvSpPr txBox="1"/>
          <p:nvPr/>
        </p:nvSpPr>
        <p:spPr>
          <a:xfrm>
            <a:off x="548640" y="262432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itre décision 2"/>
          <p:cNvSpPr txBox="1"/>
          <p:nvPr/>
        </p:nvSpPr>
        <p:spPr>
          <a:xfrm>
            <a:off x="1325880" y="2578608"/>
            <a:ext cx="5120640" cy="365760"/>
          </a:xfrm>
          <a:prstGeom prst="rect">
            <a:avLst/>
          </a:prstGeom>
          <a:noFill/>
          <a:ln/>
        </p:spPr>
        <p:txBody>
          <a:bodyPr wrap="square" lIns="0" tIns="0" rIns="0" bIns="0" rtlCol="0" anchor="t"/>
          <a:lstStyle/>
          <a:p>
            <a:pPr indent="0" marL="0">
              <a:buNone/>
            </a:pPr>
            <a:r>
              <a:rPr lang="en-US" sz="1800" b="1" dirty="0">
                <a:solidFill>
                  <a:schemeClr val="tx2"/>
                </a:solidFill>
              </a:rPr>
              <a:t>3 indicateurs macro retirés</a:t>
            </a:r>
            <a:endParaRPr lang="en-US" sz="1800" dirty="0"/>
          </a:p>
        </p:txBody>
      </p:sp>
      <p:sp>
        <p:nvSpPr>
          <p:cNvPr id="10" name="Texte décision 2"/>
          <p:cNvSpPr txBox="1"/>
          <p:nvPr/>
        </p:nvSpPr>
        <p:spPr>
          <a:xfrm>
            <a:off x="1325880" y="2962656"/>
            <a:ext cx="5120640" cy="731520"/>
          </a:xfrm>
          <a:prstGeom prst="rect">
            <a:avLst/>
          </a:prstGeom>
          <a:noFill/>
          <a:ln/>
        </p:spPr>
        <p:txBody>
          <a:bodyPr wrap="square" lIns="0" tIns="0" rIns="0" bIns="0" rtlCol="0" anchor="t"/>
          <a:lstStyle/>
          <a:p>
            <a:pPr indent="0" marL="0">
              <a:buNone/>
            </a:pPr>
            <a:r>
              <a:rPr lang="en-US" sz="1400" dirty="0">
                <a:solidFill>
                  <a:schemeClr val="tx1"/>
                </a:solidFill>
              </a:rPr>
              <a:t>emp.var.rate, nr.employed, euribor3m corrélés à 0,91–0,97 : on garde euribor3m et la confiance des ménages.</a:t>
            </a:r>
            <a:endParaRPr lang="en-US" sz="1400" dirty="0"/>
          </a:p>
        </p:txBody>
      </p:sp>
      <p:sp>
        <p:nvSpPr>
          <p:cNvPr id="11" name="Décision 3"/>
          <p:cNvSpPr/>
          <p:nvPr/>
        </p:nvSpPr>
        <p:spPr>
          <a:xfrm>
            <a:off x="548640" y="3831336"/>
            <a:ext cx="548640" cy="548640"/>
          </a:xfrm>
          <a:prstGeom prst="ellipse">
            <a:avLst/>
          </a:prstGeom>
          <a:solidFill>
            <a:schemeClr val="tx2"/>
          </a:solidFill>
          <a:ln/>
        </p:spPr>
      </p:sp>
      <p:sp>
        <p:nvSpPr>
          <p:cNvPr id="12" name="Décision 3 texte"/>
          <p:cNvSpPr txBox="1"/>
          <p:nvPr/>
        </p:nvSpPr>
        <p:spPr>
          <a:xfrm>
            <a:off x="548640" y="38313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itre décision 3"/>
          <p:cNvSpPr txBox="1"/>
          <p:nvPr/>
        </p:nvSpPr>
        <p:spPr>
          <a:xfrm>
            <a:off x="1325880" y="3785616"/>
            <a:ext cx="5120640" cy="365760"/>
          </a:xfrm>
          <a:prstGeom prst="rect">
            <a:avLst/>
          </a:prstGeom>
          <a:noFill/>
          <a:ln/>
        </p:spPr>
        <p:txBody>
          <a:bodyPr wrap="square" lIns="0" tIns="0" rIns="0" bIns="0" rtlCol="0" anchor="t"/>
          <a:lstStyle/>
          <a:p>
            <a:pPr indent="0" marL="0">
              <a:buNone/>
            </a:pPr>
            <a:r>
              <a:rPr lang="en-US" sz="1800" b="1" dirty="0">
                <a:solidFill>
                  <a:schemeClr val="tx2"/>
                </a:solidFill>
              </a:rPr>
              <a:t>Unknown traités, pas supprimés</a:t>
            </a:r>
            <a:endParaRPr lang="en-US" sz="1800" dirty="0"/>
          </a:p>
        </p:txBody>
      </p:sp>
      <p:sp>
        <p:nvSpPr>
          <p:cNvPr id="14" name="Texte décision 3"/>
          <p:cNvSpPr txBox="1"/>
          <p:nvPr/>
        </p:nvSpPr>
        <p:spPr>
          <a:xfrm>
            <a:off x="1325880" y="4169664"/>
            <a:ext cx="5120640" cy="731520"/>
          </a:xfrm>
          <a:prstGeom prst="rect">
            <a:avLst/>
          </a:prstGeom>
          <a:noFill/>
          <a:ln/>
        </p:spPr>
        <p:txBody>
          <a:bodyPr wrap="square" lIns="0" tIns="0" rIns="0" bIns="0" rtlCol="0" anchor="t"/>
          <a:lstStyle/>
          <a:p>
            <a:pPr indent="0" marL="0">
              <a:buNone/>
            </a:pPr>
            <a:r>
              <a:rPr lang="en-US" sz="1400" dirty="0">
                <a:solidFill>
                  <a:schemeClr val="tx1"/>
                </a:solidFill>
              </a:rPr>
              <a:t>Mode pour job/marital, mode par métier pour education ; default « unknown » (21 %) devient un signal.</a:t>
            </a:r>
            <a:endParaRPr lang="en-US" sz="1400" dirty="0"/>
          </a:p>
        </p:txBody>
      </p:sp>
      <p:sp>
        <p:nvSpPr>
          <p:cNvPr id="15" name="Décision 4"/>
          <p:cNvSpPr/>
          <p:nvPr/>
        </p:nvSpPr>
        <p:spPr>
          <a:xfrm>
            <a:off x="548640" y="5038344"/>
            <a:ext cx="548640" cy="548640"/>
          </a:xfrm>
          <a:prstGeom prst="ellipse">
            <a:avLst/>
          </a:prstGeom>
          <a:solidFill>
            <a:schemeClr val="tx2"/>
          </a:solidFill>
          <a:ln/>
        </p:spPr>
      </p:sp>
      <p:sp>
        <p:nvSpPr>
          <p:cNvPr id="16" name="Décision 4 texte"/>
          <p:cNvSpPr txBox="1"/>
          <p:nvPr/>
        </p:nvSpPr>
        <p:spPr>
          <a:xfrm>
            <a:off x="548640" y="503834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itre décision 4"/>
          <p:cNvSpPr txBox="1"/>
          <p:nvPr/>
        </p:nvSpPr>
        <p:spPr>
          <a:xfrm>
            <a:off x="1325880" y="4992624"/>
            <a:ext cx="5120640" cy="365760"/>
          </a:xfrm>
          <a:prstGeom prst="rect">
            <a:avLst/>
          </a:prstGeom>
          <a:noFill/>
          <a:ln/>
        </p:spPr>
        <p:txBody>
          <a:bodyPr wrap="square" lIns="0" tIns="0" rIns="0" bIns="0" rtlCol="0" anchor="t"/>
          <a:lstStyle/>
          <a:p>
            <a:pPr indent="0" marL="0">
              <a:buNone/>
            </a:pPr>
            <a:r>
              <a:rPr lang="en-US" sz="1800" b="1" dirty="0">
                <a:solidFill>
                  <a:schemeClr val="tx2"/>
                </a:solidFill>
              </a:rPr>
              <a:t>Deux représentations</a:t>
            </a:r>
            <a:endParaRPr lang="en-US" sz="1800" dirty="0"/>
          </a:p>
        </p:txBody>
      </p:sp>
      <p:sp>
        <p:nvSpPr>
          <p:cNvPr id="18" name="Texte décision 4"/>
          <p:cNvSpPr txBox="1"/>
          <p:nvPr/>
        </p:nvSpPr>
        <p:spPr>
          <a:xfrm>
            <a:off x="1325880" y="5376672"/>
            <a:ext cx="5120640" cy="731520"/>
          </a:xfrm>
          <a:prstGeom prst="rect">
            <a:avLst/>
          </a:prstGeom>
          <a:noFill/>
          <a:ln/>
        </p:spPr>
        <p:txBody>
          <a:bodyPr wrap="square" lIns="0" tIns="0" rIns="0" bIns="0" rtlCol="0" anchor="t"/>
          <a:lstStyle/>
          <a:p>
            <a:pPr indent="0" marL="0">
              <a:buNone/>
            </a:pPr>
            <a:r>
              <a:rPr lang="en-US" sz="1400" dirty="0">
                <a:solidFill>
                  <a:schemeClr val="tx1"/>
                </a:solidFill>
              </a:rPr>
              <a:t>(a) one-hot + z-score pour les méthodes euclidiennes ; (b) mixte brute pour Gower et K-prototypes.</a:t>
            </a:r>
            <a:endParaRPr lang="en-US" sz="1400" dirty="0"/>
          </a:p>
        </p:txBody>
      </p:sp>
      <p:pic>
        <p:nvPicPr>
          <p:cNvPr id="19" name="Heatmap corrélations" descr="/home/claude/projet/reports/figures/j1_heatmap_corr.png">    </p:cNvPr>
          <p:cNvPicPr>
            <a:picLocks noChangeAspect="1"/>
          </p:cNvPicPr>
          <p:nvPr/>
        </p:nvPicPr>
        <p:blipFill>
          <a:blip r:embed="rId1"/>
          <a:stretch>
            <a:fillRect/>
          </a:stretch>
        </p:blipFill>
        <p:spPr>
          <a:xfrm>
            <a:off x="6858000" y="1325880"/>
            <a:ext cx="4800600" cy="4253696"/>
          </a:xfrm>
          <a:prstGeom prst="rect">
            <a:avLst/>
          </a:prstGeom>
        </p:spPr>
      </p:pic>
      <p:sp>
        <p:nvSpPr>
          <p:cNvPr id="20" name="Légende heatmap"/>
          <p:cNvSpPr txBox="1"/>
          <p:nvPr/>
        </p:nvSpPr>
        <p:spPr>
          <a:xfrm>
            <a:off x="6858000" y="5623560"/>
            <a:ext cx="4800600" cy="320040"/>
          </a:xfrm>
          <a:prstGeom prst="rect">
            <a:avLst/>
          </a:prstGeom>
          <a:noFill/>
          <a:ln/>
        </p:spPr>
        <p:txBody>
          <a:bodyPr wrap="square" lIns="0" tIns="0" rIns="0" bIns="0" rtlCol="0" anchor="t"/>
          <a:lstStyle/>
          <a:p>
            <a:pPr indent="0" marL="0">
              <a:buNone/>
            </a:pPr>
            <a:r>
              <a:rPr lang="en-US" sz="1100" dirty="0">
                <a:solidFill>
                  <a:schemeClr val="accent1"/>
                </a:solidFill>
              </a:rPr>
              <a:t>Corrélations de Pearson des variables numériques brutes</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Sans standardisation, l'âge pèse 80 % de la distance</a:t>
            </a:r>
            <a:endParaRPr lang="en-US" sz="3200" dirty="0"/>
          </a:p>
        </p:txBody>
      </p:sp>
      <p:graphicFrame>
        <p:nvGraphicFramePr>
          <p:cNvPr id="3" name="Graphique contributions"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arte 32 %"/>
          <p:cNvSpPr/>
          <p:nvPr/>
        </p:nvSpPr>
        <p:spPr>
          <a:xfrm>
            <a:off x="7863840" y="1417320"/>
            <a:ext cx="3749040" cy="2148840"/>
          </a:xfrm>
          <a:prstGeom prst="roundRect">
            <a:avLst>
              <a:gd name="adj" fmla="val 5106"/>
            </a:avLst>
          </a:prstGeom>
          <a:solidFill>
            <a:schemeClr val="bg2"/>
          </a:solidFill>
          <a:ln/>
          <a:effectLst>
            <a:outerShdw sx="100000" sy="100000" kx="0" ky="0" algn="bl" rotWithShape="0" blurRad="76200" dist="25400" dir="5400000">
              <a:srgbClr val="000000">
                <a:alpha val="12000"/>
              </a:srgbClr>
            </a:outerShdw>
          </a:effectLst>
        </p:spPr>
      </p:sp>
      <p:sp>
        <p:nvSpPr>
          <p:cNvPr id="5" name="Chiffre voisins"/>
          <p:cNvSpPr txBox="1"/>
          <p:nvPr/>
        </p:nvSpPr>
        <p:spPr>
          <a:xfrm>
            <a:off x="8138160" y="1554480"/>
            <a:ext cx="320040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32 %</a:t>
            </a:r>
            <a:endParaRPr lang="en-US" sz="5400" dirty="0"/>
          </a:p>
        </p:txBody>
      </p:sp>
      <p:sp>
        <p:nvSpPr>
          <p:cNvPr id="6" name="Texte voisins"/>
          <p:cNvSpPr txBox="1"/>
          <p:nvPr/>
        </p:nvSpPr>
        <p:spPr>
          <a:xfrm>
            <a:off x="8138160" y="2514600"/>
            <a:ext cx="3200400" cy="914400"/>
          </a:xfrm>
          <a:prstGeom prst="rect">
            <a:avLst/>
          </a:prstGeom>
          <a:noFill/>
          <a:ln/>
        </p:spPr>
        <p:txBody>
          <a:bodyPr wrap="square" lIns="0" tIns="0" rIns="0" bIns="0" rtlCol="0" anchor="t"/>
          <a:lstStyle/>
          <a:p>
            <a:pPr indent="0" marL="0">
              <a:buNone/>
            </a:pPr>
            <a:r>
              <a:rPr lang="en-US" sz="1500" dirty="0">
                <a:solidFill>
                  <a:schemeClr val="tx1"/>
                </a:solidFill>
              </a:rPr>
              <a:t>des 10 plus proches voisins conservés quand on retire la standardisation</a:t>
            </a:r>
            <a:endParaRPr lang="en-US" sz="1500" dirty="0"/>
          </a:p>
        </p:txBody>
      </p:sp>
      <p:sp>
        <p:nvSpPr>
          <p:cNvPr id="7" name="Carte Gower"/>
          <p:cNvSpPr/>
          <p:nvPr/>
        </p:nvSpPr>
        <p:spPr>
          <a:xfrm>
            <a:off x="7863840" y="3840480"/>
            <a:ext cx="3749040" cy="2240280"/>
          </a:xfrm>
          <a:prstGeom prst="roundRect">
            <a:avLst>
              <a:gd name="adj" fmla="val 4898"/>
            </a:avLst>
          </a:prstGeom>
          <a:solidFill>
            <a:schemeClr val="bg2"/>
          </a:solidFill>
          <a:ln/>
          <a:effectLst>
            <a:outerShdw sx="100000" sy="100000" kx="0" ky="0" algn="bl" rotWithShape="0" blurRad="76200" dist="25400" dir="5400000">
              <a:srgbClr val="000000">
                <a:alpha val="12000"/>
              </a:srgbClr>
            </a:outerShdw>
          </a:effectLst>
        </p:spPr>
      </p:sp>
      <p:sp>
        <p:nvSpPr>
          <p:cNvPr id="8" name="Titre Gower"/>
          <p:cNvSpPr txBox="1"/>
          <p:nvPr/>
        </p:nvSpPr>
        <p:spPr>
          <a:xfrm>
            <a:off x="8138160" y="3977640"/>
            <a:ext cx="3200400" cy="457200"/>
          </a:xfrm>
          <a:prstGeom prst="rect">
            <a:avLst/>
          </a:prstGeom>
          <a:noFill/>
          <a:ln/>
        </p:spPr>
        <p:txBody>
          <a:bodyPr wrap="square" lIns="0" tIns="0" rIns="0" bIns="0" rtlCol="0" anchor="t"/>
          <a:lstStyle/>
          <a:p>
            <a:pPr indent="0" marL="0">
              <a:buNone/>
            </a:pPr>
            <a:r>
              <a:rPr lang="en-US" sz="2000" b="1" dirty="0">
                <a:solidFill>
                  <a:schemeClr val="tx2"/>
                </a:solidFill>
              </a:rPr>
              <a:t>Gower ≈ Manhattan</a:t>
            </a:r>
            <a:endParaRPr lang="en-US" sz="2000" dirty="0"/>
          </a:p>
        </p:txBody>
      </p:sp>
      <p:sp>
        <p:nvSpPr>
          <p:cNvPr id="9" name="Texte Gower"/>
          <p:cNvSpPr txBox="1"/>
          <p:nvPr/>
        </p:nvSpPr>
        <p:spPr>
          <a:xfrm>
            <a:off x="8138160" y="4480560"/>
            <a:ext cx="3200400" cy="1463040"/>
          </a:xfrm>
          <a:prstGeom prst="rect">
            <a:avLst/>
          </a:prstGeom>
          <a:noFill/>
          <a:ln/>
        </p:spPr>
        <p:txBody>
          <a:bodyPr wrap="square" lIns="0" tIns="0" rIns="0" bIns="0" rtlCol="0" anchor="t"/>
          <a:lstStyle/>
          <a:p>
            <a:pPr indent="0" marL="0">
              <a:buNone/>
            </a:pPr>
            <a:r>
              <a:rPr lang="en-US" sz="1500" dirty="0">
                <a:solidFill>
                  <a:schemeClr val="tx1"/>
                </a:solidFill>
              </a:rPr>
              <a:t>ρ = 0,86 avec Manhattan, 0,71 avec l'euclidienne : normalisation par l'étendue, chaque variable pèse 1/13.</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Partitionner : quatre méthodes, quatre géométries</a:t>
            </a:r>
            <a:endParaRPr lang="en-US" sz="3200" dirty="0"/>
          </a:p>
        </p:txBody>
      </p:sp>
      <p:graphicFrame>
        <p:nvGraphicFramePr>
          <p:cNvPr id="6" name="Tableau comparatif J2"/>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2286000"/>
                <a:gridCol w="548640"/>
                <a:gridCol w="2011680"/>
                <a:gridCol w="1463040"/>
                <a:gridCol w="1463040"/>
                <a:gridCol w="1463040"/>
              </a:tblGrid>
              <a:tr h="384048">
                <a:tc>
                  <a:txBody>
                    <a:bodyPr/>
                    <a:lstStyle/>
                    <a:p>
                      <a:pPr algn="ctr" indent="0" marL="0">
                        <a:buNone/>
                      </a:pPr>
                      <a:r>
                        <a:rPr lang="en-US" sz="1300" b="1" dirty="0">
                          <a:solidFill>
                            <a:srgbClr val="FFFFFF"/>
                          </a:solidFill>
                        </a:rPr>
                        <a:t>Méthode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Représentation / distance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k</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Critère de k</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Silhouette (a)</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Davies-Bouldin</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Silhouette native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r>
              <a:tr h="384048">
                <a:tc>
                  <a:txBody>
                    <a:bodyPr/>
                    <a:lstStyle/>
                    <a:p>
                      <a:pPr algn="l" indent="0" marL="0">
                        <a:buNone/>
                      </a:pPr>
                      <a:r>
                        <a:rPr lang="en-US" sz="1300" b="1" dirty="0">
                          <a:solidFill>
                            <a:srgbClr val="1A1F2B"/>
                          </a:solidFill>
                        </a:rPr>
                        <a:t>K-means</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(a) euclidienne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coude de l'inertie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0,142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1,85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0,142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A1F2B"/>
                          </a:solidFill>
                        </a:rPr>
                        <a:t>K-medoids (PAM)</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(b) Gower</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3</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silhouette Gower max</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0,059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2,89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A1F2B"/>
                          </a:solidFill>
                        </a:rPr>
                        <a:t>0,158</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A1F2B"/>
                          </a:solidFill>
                        </a:rPr>
                        <a:t>K-prototypes</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(b) euclid. + γ·désaccord</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coude du coût</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0,139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1,88</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0,102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1A1F2B"/>
                          </a:solidFill>
                        </a:rPr>
                        <a:t>GMM (full)</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PCA 80 % (7 comp.)</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6</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coude du BIC</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0,047</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2,79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pic>
        <p:nvPicPr>
          <p:cNvPr id="4" name="Partitions sur UMAP" descr="/home/claude/projet/reports/figures/j2_partitions_umap.png">    </p:cNvPr>
          <p:cNvPicPr>
            <a:picLocks noChangeAspect="1"/>
          </p:cNvPicPr>
          <p:nvPr/>
        </p:nvPicPr>
        <p:blipFill>
          <a:blip r:embed="rId1"/>
          <a:stretch>
            <a:fillRect/>
          </a:stretch>
        </p:blipFill>
        <p:spPr>
          <a:xfrm>
            <a:off x="548640" y="3520440"/>
            <a:ext cx="11064240" cy="2632218"/>
          </a:xfrm>
          <a:prstGeom prst="rect">
            <a:avLst/>
          </a:prstGeom>
        </p:spPr>
      </p:pic>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Ward pour segmenter, DBSCAN pour explorer</a:t>
            </a:r>
            <a:endParaRPr lang="en-US" sz="3200" dirty="0"/>
          </a:p>
        </p:txBody>
      </p:sp>
      <p:pic>
        <p:nvPicPr>
          <p:cNvPr id="3" name="Dendrogramme Ward" descr="/home/claude/projet/reports/figures/j3_ward_coupure.png">    </p:cNvPr>
          <p:cNvPicPr>
            <a:picLocks noChangeAspect="1"/>
          </p:cNvPicPr>
          <p:nvPr/>
        </p:nvPicPr>
        <p:blipFill>
          <a:blip r:embed="rId1"/>
          <a:stretch>
            <a:fillRect/>
          </a:stretch>
        </p:blipFill>
        <p:spPr>
          <a:xfrm>
            <a:off x="548640" y="1325880"/>
            <a:ext cx="5394960" cy="1866280"/>
          </a:xfrm>
          <a:prstGeom prst="rect">
            <a:avLst/>
          </a:prstGeom>
        </p:spPr>
      </p:pic>
      <p:pic>
        <p:nvPicPr>
          <p:cNvPr id="4" name="DBSCAN UMAP" descr="/home/claude/projet/reports/figures/j3_dbscan_umap.png">    </p:cNvPr>
          <p:cNvPicPr>
            <a:picLocks noChangeAspect="1"/>
          </p:cNvPicPr>
          <p:nvPr/>
        </p:nvPicPr>
        <p:blipFill>
          <a:blip r:embed="rId2"/>
          <a:stretch>
            <a:fillRect/>
          </a:stretch>
        </p:blipFill>
        <p:spPr>
          <a:xfrm>
            <a:off x="6217920" y="1325880"/>
            <a:ext cx="5394960" cy="1938889"/>
          </a:xfrm>
          <a:prstGeom prst="rect">
            <a:avLst/>
          </a:prstGeom>
        </p:spPr>
      </p:pic>
      <p:sp>
        <p:nvSpPr>
          <p:cNvPr id="5" name="CAH point 1"/>
          <p:cNvSpPr txBox="1"/>
          <p:nvPr/>
        </p:nvSpPr>
        <p:spPr>
          <a:xfrm>
            <a:off x="548640" y="3429000"/>
            <a:ext cx="5394960" cy="822960"/>
          </a:xfrm>
          <a:prstGeom prst="rect">
            <a:avLst/>
          </a:prstGeom>
          <a:noFill/>
          <a:ln/>
        </p:spPr>
        <p:txBody>
          <a:bodyPr wrap="square" lIns="0" tIns="0" rIns="0" bIns="0" rtlCol="0" anchor="t"/>
          <a:lstStyle/>
          <a:p>
            <a:pPr indent="0" marL="0">
              <a:buNone/>
            </a:pPr>
            <a:r>
              <a:rPr lang="en-US" sz="1500" b="1" dirty="0">
                <a:solidFill>
                  <a:schemeClr val="tx2"/>
                </a:solidFill>
              </a:rPr>
              <a:t>Single : effet de chaîne</a:t>
            </a:r>
            <a:endParaRPr lang="en-US" sz="1500" dirty="0"/>
          </a:p>
          <a:p>
            <a:pPr indent="0" marL="0">
              <a:buNone/>
            </a:pPr>
            <a:r>
              <a:rPr lang="en-US" sz="1500" dirty="0">
                <a:solidFill>
                  <a:schemeClr val="tx1"/>
                </a:solidFill>
              </a:rPr>
              <a:t>un cluster de 99,6–100 % des clients</a:t>
            </a:r>
            <a:endParaRPr lang="en-US" sz="1500" dirty="0"/>
          </a:p>
        </p:txBody>
      </p:sp>
      <p:sp>
        <p:nvSpPr>
          <p:cNvPr id="6" name="CAH point 2"/>
          <p:cNvSpPr txBox="1"/>
          <p:nvPr/>
        </p:nvSpPr>
        <p:spPr>
          <a:xfrm>
            <a:off x="548640" y="4361688"/>
            <a:ext cx="5394960" cy="822960"/>
          </a:xfrm>
          <a:prstGeom prst="rect">
            <a:avLst/>
          </a:prstGeom>
          <a:noFill/>
          <a:ln/>
        </p:spPr>
        <p:txBody>
          <a:bodyPr wrap="square" lIns="0" tIns="0" rIns="0" bIns="0" rtlCol="0" anchor="t"/>
          <a:lstStyle/>
          <a:p>
            <a:pPr indent="0" marL="0">
              <a:buNone/>
            </a:pPr>
            <a:r>
              <a:rPr lang="en-US" sz="1500" b="1" dirty="0">
                <a:solidFill>
                  <a:schemeClr val="tx2"/>
                </a:solidFill>
              </a:rPr>
              <a:t>Average / complete</a:t>
            </a:r>
            <a:endParaRPr lang="en-US" sz="1500" dirty="0"/>
          </a:p>
          <a:p>
            <a:pPr indent="0" marL="0">
              <a:buNone/>
            </a:pPr>
            <a:r>
              <a:rPr lang="en-US" sz="1500" dirty="0">
                <a:solidFill>
                  <a:schemeClr val="tx1"/>
                </a:solidFill>
              </a:rPr>
              <a:t>fidèles aux distances (cophénétique 0,78), mais un groupe à 95 %</a:t>
            </a:r>
            <a:endParaRPr lang="en-US" sz="1500" dirty="0"/>
          </a:p>
        </p:txBody>
      </p:sp>
      <p:sp>
        <p:nvSpPr>
          <p:cNvPr id="7" name="CAH point 3"/>
          <p:cNvSpPr txBox="1"/>
          <p:nvPr/>
        </p:nvSpPr>
        <p:spPr>
          <a:xfrm>
            <a:off x="548640" y="5294376"/>
            <a:ext cx="5394960" cy="822960"/>
          </a:xfrm>
          <a:prstGeom prst="rect">
            <a:avLst/>
          </a:prstGeom>
          <a:noFill/>
          <a:ln/>
        </p:spPr>
        <p:txBody>
          <a:bodyPr wrap="square" lIns="0" tIns="0" rIns="0" bIns="0" rtlCol="0" anchor="t"/>
          <a:lstStyle/>
          <a:p>
            <a:pPr indent="0" marL="0">
              <a:buNone/>
            </a:pPr>
            <a:r>
              <a:rPr lang="en-US" sz="1500" b="1" dirty="0">
                <a:solidFill>
                  <a:schemeClr val="tx2"/>
                </a:solidFill>
              </a:rPr>
              <a:t>Ward retenu, k = 4</a:t>
            </a:r>
            <a:endParaRPr lang="en-US" sz="1500" dirty="0"/>
          </a:p>
          <a:p>
            <a:pPr indent="0" marL="0">
              <a:buNone/>
            </a:pPr>
            <a:r>
              <a:rPr lang="en-US" sz="1500" dirty="0">
                <a:solidFill>
                  <a:schemeClr val="tx1"/>
                </a:solidFill>
              </a:rPr>
              <a:t>groupes équilibrés, silhouette 0,189</a:t>
            </a:r>
            <a:endParaRPr lang="en-US" sz="1500" dirty="0"/>
          </a:p>
        </p:txBody>
      </p:sp>
      <p:sp>
        <p:nvSpPr>
          <p:cNvPr id="8" name="DBSCAN point 1"/>
          <p:cNvSpPr txBox="1"/>
          <p:nvPr/>
        </p:nvSpPr>
        <p:spPr>
          <a:xfrm>
            <a:off x="6217920" y="3429000"/>
            <a:ext cx="5394960" cy="822960"/>
          </a:xfrm>
          <a:prstGeom prst="rect">
            <a:avLst/>
          </a:prstGeom>
          <a:noFill/>
          <a:ln/>
        </p:spPr>
        <p:txBody>
          <a:bodyPr wrap="square" lIns="0" tIns="0" rIns="0" bIns="0" rtlCol="0" anchor="t"/>
          <a:lstStyle/>
          <a:p>
            <a:pPr indent="0" marL="0">
              <a:buNone/>
            </a:pPr>
            <a:r>
              <a:rPr lang="en-US" sz="1500" b="1" dirty="0">
                <a:solidFill>
                  <a:schemeClr val="tx2"/>
                </a:solidFill>
              </a:rPr>
              <a:t>ε lu au coude des k-distances</a:t>
            </a:r>
            <a:endParaRPr lang="en-US" sz="1500" dirty="0"/>
          </a:p>
          <a:p>
            <a:pPr indent="0" marL="0">
              <a:buNone/>
            </a:pPr>
            <a:r>
              <a:rPr lang="en-US" sz="1500" dirty="0">
                <a:solidFill>
                  <a:schemeClr val="tx1"/>
                </a:solidFill>
              </a:rPr>
              <a:t>e* = 50 → ε* = 0,52 sur UMAP</a:t>
            </a:r>
            <a:endParaRPr lang="en-US" sz="1500" dirty="0"/>
          </a:p>
        </p:txBody>
      </p:sp>
      <p:sp>
        <p:nvSpPr>
          <p:cNvPr id="9" name="DBSCAN point 2"/>
          <p:cNvSpPr txBox="1"/>
          <p:nvPr/>
        </p:nvSpPr>
        <p:spPr>
          <a:xfrm>
            <a:off x="6217920" y="4361688"/>
            <a:ext cx="5394960" cy="822960"/>
          </a:xfrm>
          <a:prstGeom prst="rect">
            <a:avLst/>
          </a:prstGeom>
          <a:noFill/>
          <a:ln/>
        </p:spPr>
        <p:txBody>
          <a:bodyPr wrap="square" lIns="0" tIns="0" rIns="0" bIns="0" rtlCol="0" anchor="t"/>
          <a:lstStyle/>
          <a:p>
            <a:pPr indent="0" marL="0">
              <a:buNone/>
            </a:pPr>
            <a:r>
              <a:rPr lang="en-US" sz="1500" b="1" dirty="0">
                <a:solidFill>
                  <a:schemeClr val="tx2"/>
                </a:solidFill>
              </a:rPr>
              <a:t>6 clusters, 11 points de bruit</a:t>
            </a:r>
            <a:endParaRPr lang="en-US" sz="1500" dirty="0"/>
          </a:p>
          <a:p>
            <a:pPr indent="0" marL="0">
              <a:buNone/>
            </a:pPr>
            <a:r>
              <a:rPr lang="en-US" sz="1500" dirty="0">
                <a:solidFill>
                  <a:schemeClr val="tx1"/>
                </a:solidFill>
              </a:rPr>
              <a:t>3 579 points cœur, 410 de bordure</a:t>
            </a:r>
            <a:endParaRPr lang="en-US" sz="1500" dirty="0"/>
          </a:p>
        </p:txBody>
      </p:sp>
      <p:sp>
        <p:nvSpPr>
          <p:cNvPr id="10" name="DBSCAN point 3"/>
          <p:cNvSpPr txBox="1"/>
          <p:nvPr/>
        </p:nvSpPr>
        <p:spPr>
          <a:xfrm>
            <a:off x="6217920" y="5294376"/>
            <a:ext cx="5394960" cy="822960"/>
          </a:xfrm>
          <a:prstGeom prst="rect">
            <a:avLst/>
          </a:prstGeom>
          <a:noFill/>
          <a:ln/>
        </p:spPr>
        <p:txBody>
          <a:bodyPr wrap="square" lIns="0" tIns="0" rIns="0" bIns="0" rtlCol="0" anchor="t"/>
          <a:lstStyle/>
          <a:p>
            <a:pPr indent="0" marL="0">
              <a:buNone/>
            </a:pPr>
            <a:r>
              <a:rPr lang="en-US" sz="1500" b="1" dirty="0">
                <a:solidFill>
                  <a:schemeClr val="tx2"/>
                </a:solidFill>
              </a:rPr>
              <a:t>Très sensible à ε</a:t>
            </a:r>
            <a:endParaRPr lang="en-US" sz="1500" dirty="0"/>
          </a:p>
          <a:p>
            <a:pPr indent="0" marL="0">
              <a:buNone/>
            </a:pPr>
            <a:r>
              <a:rPr lang="en-US" sz="1500" dirty="0">
                <a:solidFill>
                  <a:schemeClr val="tx1"/>
                </a:solidFill>
              </a:rPr>
              <a:t>ε × 0,75 → 20 clusters, 314 bruits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La classification mixte Ward + K-means l'emporte</a:t>
            </a:r>
            <a:endParaRPr lang="en-US" sz="3200" dirty="0"/>
          </a:p>
        </p:txBody>
      </p:sp>
      <p:graphicFrame>
        <p:nvGraphicFramePr>
          <p:cNvPr id="8" name="Tableau synthèse indices"/>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2377440"/>
                <a:gridCol w="548640"/>
                <a:gridCol w="1097280"/>
                <a:gridCol w="1280160"/>
                <a:gridCol w="914400"/>
                <a:gridCol w="1005840"/>
              </a:tblGrid>
              <a:tr h="438912">
                <a:tc>
                  <a:txBody>
                    <a:bodyPr/>
                    <a:lstStyle/>
                    <a:p>
                      <a:pPr algn="ctr" indent="0" marL="0">
                        <a:buNone/>
                      </a:pPr>
                      <a:r>
                        <a:rPr lang="en-US" sz="1300" b="1" dirty="0">
                          <a:solidFill>
                            <a:srgbClr val="FFFFFF"/>
                          </a:solidFill>
                        </a:rPr>
                        <a:t>Méthode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k</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Silhouette ↑</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Davies-Bouldin ↓</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ARI vs y</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c>
                  <a:txBody>
                    <a:bodyPr/>
                    <a:lstStyle/>
                    <a:p>
                      <a:pPr algn="ctr" indent="0" marL="0">
                        <a:buNone/>
                      </a:pPr>
                      <a:r>
                        <a:rPr lang="en-US" sz="1300" b="1" dirty="0">
                          <a:solidFill>
                            <a:srgbClr val="FFFFFF"/>
                          </a:solidFill>
                        </a:rPr>
                        <a:t>V-mesure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5233B"/>
                    </a:solidFill>
                  </a:tcPr>
                </a:tc>
              </a:tr>
              <a:tr h="438912">
                <a:tc>
                  <a:txBody>
                    <a:bodyPr/>
                    <a:lstStyle/>
                    <a:p>
                      <a:pPr algn="l" indent="0" marL="0">
                        <a:buNone/>
                      </a:pPr>
                      <a:r>
                        <a:rPr lang="en-US" sz="1300" dirty="0">
                          <a:solidFill>
                            <a:srgbClr val="1A1F2B"/>
                          </a:solidFill>
                        </a:rPr>
                        <a:t>CAH Ward</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4</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0,189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1,76</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0,153</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0,066</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K-means</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6</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0,151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1,77</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0,034</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0,041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K-prototypes</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0,139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1,88</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0,037</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0,051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GMM</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4</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0,099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2,53</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0,049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0,045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K-medoids (Gower)</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3</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0,059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2,89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0,011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0,021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DBSCAN (UMAP)</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6</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0,104</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2,25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0,072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0,051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dirty="0">
                          <a:solidFill>
                            <a:srgbClr val="1A1F2B"/>
                          </a:solidFill>
                        </a:rPr>
                        <a:t>DBSCAN (PCA)</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3</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0,121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2,22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0,160</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2B"/>
                          </a:solidFill>
                        </a:rPr>
                        <a:t>0,055</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FFFFFF"/>
                          </a:solidFill>
                        </a:rPr>
                        <a:t>Ward + K-means (retenue)</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c>
                  <a:txBody>
                    <a:bodyPr/>
                    <a:lstStyle/>
                    <a:p>
                      <a:pPr algn="ctr" indent="0" marL="0">
                        <a:buNone/>
                      </a:pPr>
                      <a:r>
                        <a:rPr lang="en-US" sz="1300" b="1" dirty="0">
                          <a:solidFill>
                            <a:srgbClr val="FFFFFF"/>
                          </a:solidFill>
                        </a:rPr>
                        <a:t>4</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c>
                  <a:txBody>
                    <a:bodyPr/>
                    <a:lstStyle/>
                    <a:p>
                      <a:pPr algn="ctr" indent="0" marL="0">
                        <a:buNone/>
                      </a:pPr>
                      <a:r>
                        <a:rPr lang="en-US" sz="1300" b="1" dirty="0">
                          <a:solidFill>
                            <a:srgbClr val="FFFFFF"/>
                          </a:solidFill>
                        </a:rPr>
                        <a:t>0,192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c>
                  <a:txBody>
                    <a:bodyPr/>
                    <a:lstStyle/>
                    <a:p>
                      <a:pPr algn="ctr" indent="0" marL="0">
                        <a:buNone/>
                      </a:pPr>
                      <a:r>
                        <a:rPr lang="en-US" sz="1300" b="1" dirty="0">
                          <a:solidFill>
                            <a:srgbClr val="FFFFFF"/>
                          </a:solidFill>
                        </a:rPr>
                        <a:t>1,69</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c>
                  <a:txBody>
                    <a:bodyPr/>
                    <a:lstStyle/>
                    <a:p>
                      <a:pPr algn="ctr" indent="0" marL="0">
                        <a:buNone/>
                      </a:pPr>
                      <a:r>
                        <a:rPr lang="en-US" sz="1300" b="1" dirty="0">
                          <a:solidFill>
                            <a:srgbClr val="FFFFFF"/>
                          </a:solidFill>
                        </a:rPr>
                        <a:t>0,151</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c>
                  <a:txBody>
                    <a:bodyPr/>
                    <a:lstStyle/>
                    <a:p>
                      <a:pPr algn="ctr" indent="0" marL="0">
                        <a:buNone/>
                      </a:pPr>
                      <a:r>
                        <a:rPr lang="en-US" sz="1300" b="1" dirty="0">
                          <a:solidFill>
                            <a:srgbClr val="FFFFFF"/>
                          </a:solidFill>
                        </a:rPr>
                        <a:t>0,062</a:t>
                      </a:r>
                      <a:endParaRPr lang="en-US" sz="1300" dirty="0"/>
                    </a:p>
                  </a:txBody>
                  <a:tcPr marL="91440" marR="91440" marT="45720" marB="45720">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C0392B"/>
                    </a:solidFill>
                  </a:tcPr>
                </a:tc>
              </a:tr>
            </a:tbl>
          </a:graphicData>
        </a:graphic>
      </p:graphicFrame>
      <p:sp>
        <p:nvSpPr>
          <p:cNvPr id="4" name="Carte solution retenue"/>
          <p:cNvSpPr/>
          <p:nvPr/>
        </p:nvSpPr>
        <p:spPr>
          <a:xfrm>
            <a:off x="8138160" y="1325880"/>
            <a:ext cx="3474720" cy="4800600"/>
          </a:xfrm>
          <a:prstGeom prst="roundRect">
            <a:avLst>
              <a:gd name="adj" fmla="val 3158"/>
            </a:avLst>
          </a:prstGeom>
          <a:solidFill>
            <a:schemeClr val="bg2"/>
          </a:solidFill>
          <a:ln/>
          <a:effectLst>
            <a:outerShdw sx="100000" sy="100000" kx="0" ky="0" algn="bl" rotWithShape="0" blurRad="76200" dist="25400" dir="5400000">
              <a:srgbClr val="000000">
                <a:alpha val="12000"/>
              </a:srgbClr>
            </a:outerShdw>
          </a:effectLst>
        </p:spPr>
      </p:sp>
      <p:sp>
        <p:nvSpPr>
          <p:cNvPr id="5" name="Titre pourquoi"/>
          <p:cNvSpPr txBox="1"/>
          <p:nvPr/>
        </p:nvSpPr>
        <p:spPr>
          <a:xfrm>
            <a:off x="8412480" y="1508760"/>
            <a:ext cx="2926080" cy="457200"/>
          </a:xfrm>
          <a:prstGeom prst="rect">
            <a:avLst/>
          </a:prstGeom>
          <a:noFill/>
          <a:ln/>
        </p:spPr>
        <p:txBody>
          <a:bodyPr wrap="square" lIns="0" tIns="0" rIns="0" bIns="0" rtlCol="0" anchor="t"/>
          <a:lstStyle/>
          <a:p>
            <a:pPr indent="0" marL="0">
              <a:buNone/>
            </a:pPr>
            <a:r>
              <a:rPr lang="en-US" sz="1800" b="1" dirty="0">
                <a:solidFill>
                  <a:schemeClr val="tx2"/>
                </a:solidFill>
              </a:rPr>
              <a:t>Pourquoi cette solution ?</a:t>
            </a:r>
            <a:endParaRPr lang="en-US" sz="1800" dirty="0"/>
          </a:p>
        </p:txBody>
      </p:sp>
      <p:sp>
        <p:nvSpPr>
          <p:cNvPr id="6" name="Arguments solution"/>
          <p:cNvSpPr txBox="1"/>
          <p:nvPr/>
        </p:nvSpPr>
        <p:spPr>
          <a:xfrm>
            <a:off x="8412480" y="2057400"/>
            <a:ext cx="2926080" cy="3931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1ʳᵉ sur silhouette, Davies-Bouldin et V-mesure parmi les solutions de 3 à 6 segments</a:t>
            </a:r>
            <a:endParaRPr lang="en-US" sz="1400" dirty="0"/>
          </a:p>
          <a:p>
            <a:pPr marL="342900" indent="-342900">
              <a:spcAft>
                <a:spcPts val="800"/>
              </a:spcAft>
              <a:buSzPct val="100000"/>
              <a:buChar char="•"/>
            </a:pPr>
            <a:r>
              <a:rPr lang="en-US" sz="1400" dirty="0">
                <a:solidFill>
                  <a:schemeClr val="tx1"/>
                </a:solidFill>
              </a:rPr>
              <a:t>Ward fixe k et les centres ; K-means les consolide sur 41 176 clients</a:t>
            </a:r>
            <a:endParaRPr lang="en-US" sz="1400" dirty="0"/>
          </a:p>
          <a:p>
            <a:pPr marL="342900" indent="-342900">
              <a:spcAft>
                <a:spcPts val="800"/>
              </a:spcAft>
              <a:buSzPct val="100000"/>
              <a:buChar char="•"/>
            </a:pPr>
            <a:r>
              <a:rPr lang="en-US" sz="1400" dirty="0">
                <a:solidFill>
                  <a:schemeClr val="tx1"/>
                </a:solidFill>
              </a:rPr>
              <a:t>Déployable : un nouveau client va au centre le plus proche</a:t>
            </a:r>
            <a:endParaRPr lang="en-US" sz="1400" dirty="0"/>
          </a:p>
          <a:p>
            <a:pPr marL="342900" indent="-342900">
              <a:spcAft>
                <a:spcPts val="800"/>
              </a:spcAft>
              <a:buSzPct val="100000"/>
              <a:buChar char="•"/>
            </a:pPr>
            <a:r>
              <a:rPr lang="en-US" sz="1400" dirty="0">
                <a:solidFill>
                  <a:schemeClr val="tx1"/>
                </a:solidFill>
              </a:rPr>
              <a:t>ARI faible avec y : on décrit des profils, on ne reproduit pas la souscription</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Stabilité : la partition finale résiste au rééchantillonnage</a:t>
            </a:r>
            <a:endParaRPr lang="en-US" sz="3200" dirty="0"/>
          </a:p>
        </p:txBody>
      </p:sp>
      <p:graphicFrame>
        <p:nvGraphicFramePr>
          <p:cNvPr id="3" name="Graphique stabilité"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arte 0,999"/>
          <p:cNvSpPr/>
          <p:nvPr/>
        </p:nvSpPr>
        <p:spPr>
          <a:xfrm>
            <a:off x="7863840" y="1417320"/>
            <a:ext cx="3749040" cy="2103120"/>
          </a:xfrm>
          <a:prstGeom prst="roundRect">
            <a:avLst>
              <a:gd name="adj" fmla="val 5217"/>
            </a:avLst>
          </a:prstGeom>
          <a:solidFill>
            <a:schemeClr val="bg2"/>
          </a:solidFill>
          <a:ln/>
          <a:effectLst>
            <a:outerShdw sx="100000" sy="100000" kx="0" ky="0" algn="bl" rotWithShape="0" blurRad="76200" dist="25400" dir="5400000">
              <a:srgbClr val="000000">
                <a:alpha val="12000"/>
              </a:srgbClr>
            </a:outerShdw>
          </a:effectLst>
        </p:spPr>
      </p:sp>
      <p:sp>
        <p:nvSpPr>
          <p:cNvPr id="5" name="Chiffre stabilité"/>
          <p:cNvSpPr txBox="1"/>
          <p:nvPr/>
        </p:nvSpPr>
        <p:spPr>
          <a:xfrm>
            <a:off x="8138160" y="1554480"/>
            <a:ext cx="3200400" cy="914400"/>
          </a:xfrm>
          <a:prstGeom prst="rect">
            <a:avLst/>
          </a:prstGeom>
          <a:noFill/>
          <a:ln/>
        </p:spPr>
        <p:txBody>
          <a:bodyPr wrap="square" lIns="0" tIns="0" rIns="0" bIns="0" rtlCol="0" anchor="t"/>
          <a:lstStyle/>
          <a:p>
            <a:pPr indent="0" marL="0">
              <a:buNone/>
            </a:pPr>
            <a:r>
              <a:rPr lang="en-US" sz="5400" b="1" dirty="0">
                <a:solidFill>
                  <a:schemeClr val="accent6"/>
                </a:solidFill>
                <a:latin typeface="Cambria" pitchFamily="34" charset="0"/>
                <a:ea typeface="Cambria" pitchFamily="34" charset="-122"/>
                <a:cs typeface="Cambria" pitchFamily="34" charset="-120"/>
              </a:rPr>
              <a:t>0,999</a:t>
            </a:r>
            <a:endParaRPr lang="en-US" sz="5400" dirty="0"/>
          </a:p>
        </p:txBody>
      </p:sp>
      <p:sp>
        <p:nvSpPr>
          <p:cNvPr id="6" name="Texte stabilité"/>
          <p:cNvSpPr txBox="1"/>
          <p:nvPr/>
        </p:nvSpPr>
        <p:spPr>
          <a:xfrm>
            <a:off x="8138160" y="2514600"/>
            <a:ext cx="3200400" cy="822960"/>
          </a:xfrm>
          <a:prstGeom prst="rect">
            <a:avLst/>
          </a:prstGeom>
          <a:noFill/>
          <a:ln/>
        </p:spPr>
        <p:txBody>
          <a:bodyPr wrap="square" lIns="0" tIns="0" rIns="0" bIns="0" rtlCol="0" anchor="t"/>
          <a:lstStyle/>
          <a:p>
            <a:pPr indent="0" marL="0">
              <a:buNone/>
            </a:pPr>
            <a:r>
              <a:rPr lang="en-US" sz="1500" dirty="0">
                <a:solidFill>
                  <a:schemeClr val="tx1"/>
                </a:solidFill>
              </a:rPr>
              <a:t>ARI bootstrap de la solution retenue, centres Ward fixés</a:t>
            </a:r>
            <a:endParaRPr lang="en-US" sz="1500" dirty="0"/>
          </a:p>
        </p:txBody>
      </p:sp>
      <p:sp>
        <p:nvSpPr>
          <p:cNvPr id="7" name="Carte limite"/>
          <p:cNvSpPr/>
          <p:nvPr/>
        </p:nvSpPr>
        <p:spPr>
          <a:xfrm>
            <a:off x="7863840" y="3794760"/>
            <a:ext cx="3749040" cy="2286000"/>
          </a:xfrm>
          <a:prstGeom prst="roundRect">
            <a:avLst>
              <a:gd name="adj" fmla="val 4800"/>
            </a:avLst>
          </a:prstGeom>
          <a:solidFill>
            <a:schemeClr val="bg2"/>
          </a:solidFill>
          <a:ln/>
          <a:effectLst>
            <a:outerShdw sx="100000" sy="100000" kx="0" ky="0" algn="bl" rotWithShape="0" blurRad="76200" dist="25400" dir="5400000">
              <a:srgbClr val="000000">
                <a:alpha val="12000"/>
              </a:srgbClr>
            </a:outerShdw>
          </a:effectLst>
        </p:spPr>
      </p:sp>
      <p:sp>
        <p:nvSpPr>
          <p:cNvPr id="8" name="Titre limite"/>
          <p:cNvSpPr txBox="1"/>
          <p:nvPr/>
        </p:nvSpPr>
        <p:spPr>
          <a:xfrm>
            <a:off x="8138160" y="3931920"/>
            <a:ext cx="3200400" cy="457200"/>
          </a:xfrm>
          <a:prstGeom prst="rect">
            <a:avLst/>
          </a:prstGeom>
          <a:noFill/>
          <a:ln/>
        </p:spPr>
        <p:txBody>
          <a:bodyPr wrap="square" lIns="0" tIns="0" rIns="0" bIns="0" rtlCol="0" anchor="t"/>
          <a:lstStyle/>
          <a:p>
            <a:pPr indent="0" marL="0">
              <a:buNone/>
            </a:pPr>
            <a:r>
              <a:rPr lang="en-US" sz="2000" b="1" dirty="0">
                <a:solidFill>
                  <a:schemeClr val="accent3"/>
                </a:solidFill>
              </a:rPr>
              <a:t>Limite assumée</a:t>
            </a:r>
            <a:endParaRPr lang="en-US" sz="2000" dirty="0"/>
          </a:p>
        </p:txBody>
      </p:sp>
      <p:sp>
        <p:nvSpPr>
          <p:cNvPr id="9" name="Texte limite"/>
          <p:cNvSpPr txBox="1"/>
          <p:nvPr/>
        </p:nvSpPr>
        <p:spPr>
          <a:xfrm>
            <a:off x="8138160" y="4434840"/>
            <a:ext cx="3200400" cy="1463040"/>
          </a:xfrm>
          <a:prstGeom prst="rect">
            <a:avLst/>
          </a:prstGeom>
          <a:noFill/>
          <a:ln/>
        </p:spPr>
        <p:txBody>
          <a:bodyPr wrap="square" lIns="0" tIns="0" rIns="0" bIns="0" rtlCol="0" anchor="t"/>
          <a:lstStyle/>
          <a:p>
            <a:pPr indent="0" marL="0">
              <a:buNone/>
            </a:pPr>
            <a:r>
              <a:rPr lang="en-US" sz="1500" dirty="0">
                <a:solidFill>
                  <a:schemeClr val="tx1"/>
                </a:solidFill>
              </a:rPr>
              <a:t>Chaîne complète CAH → K-means : ARI 0,72 ± 0,23. Figer les centres et les ré-estimer périodiquement.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Quatre segments aux profils contrastés</a:t>
            </a:r>
            <a:endParaRPr lang="en-US" sz="3200" dirty="0"/>
          </a:p>
        </p:txBody>
      </p:sp>
      <p:sp>
        <p:nvSpPr>
          <p:cNvPr id="3" name="Carte segment 1"/>
          <p:cNvSpPr/>
          <p:nvPr/>
        </p:nvSpPr>
        <p:spPr>
          <a:xfrm>
            <a:off x="548640" y="1371600"/>
            <a:ext cx="2606040" cy="4754880"/>
          </a:xfrm>
          <a:prstGeom prst="roundRect">
            <a:avLst>
              <a:gd name="adj" fmla="val 4211"/>
            </a:avLst>
          </a:prstGeom>
          <a:solidFill>
            <a:schemeClr val="bg1"/>
          </a:solidFill>
          <a:ln/>
          <a:effectLst>
            <a:outerShdw sx="100000" sy="100000" kx="0" ky="0" algn="bl" rotWithShape="0" blurRad="76200" dist="25400" dir="5400000">
              <a:srgbClr val="000000">
                <a:alpha val="12000"/>
              </a:srgbClr>
            </a:outerShdw>
          </a:effectLst>
        </p:spPr>
      </p:sp>
      <p:sp>
        <p:nvSpPr>
          <p:cNvPr id="4" name="Pastille segment 1"/>
          <p:cNvSpPr/>
          <p:nvPr/>
        </p:nvSpPr>
        <p:spPr>
          <a:xfrm>
            <a:off x="777240" y="1600200"/>
            <a:ext cx="731520" cy="731520"/>
          </a:xfrm>
          <a:prstGeom prst="ellipse">
            <a:avLst/>
          </a:prstGeom>
          <a:solidFill>
            <a:schemeClr val="accent1"/>
          </a:solidFill>
          <a:ln/>
        </p:spPr>
      </p:sp>
      <p:sp>
        <p:nvSpPr>
          <p:cNvPr id="5" name="Pastille segment 1 texte"/>
          <p:cNvSpPr txBox="1"/>
          <p:nvPr/>
        </p:nvSpPr>
        <p:spPr>
          <a:xfrm>
            <a:off x="777240" y="16002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S1</a:t>
            </a:r>
            <a:endParaRPr lang="en-US" sz="1800" dirty="0"/>
          </a:p>
        </p:txBody>
      </p:sp>
      <p:sp>
        <p:nvSpPr>
          <p:cNvPr id="6" name="Part segment 1"/>
          <p:cNvSpPr txBox="1"/>
          <p:nvPr/>
        </p:nvSpPr>
        <p:spPr>
          <a:xfrm>
            <a:off x="1645920" y="1600200"/>
            <a:ext cx="137160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65 %</a:t>
            </a:r>
            <a:endParaRPr lang="en-US" sz="3600" dirty="0"/>
          </a:p>
        </p:txBody>
      </p:sp>
      <p:sp>
        <p:nvSpPr>
          <p:cNvPr id="7" name="Nom segment 1"/>
          <p:cNvSpPr txBox="1"/>
          <p:nvPr/>
        </p:nvSpPr>
        <p:spPr>
          <a:xfrm>
            <a:off x="777240" y="2514600"/>
            <a:ext cx="2194560" cy="777240"/>
          </a:xfrm>
          <a:prstGeom prst="rect">
            <a:avLst/>
          </a:prstGeom>
          <a:noFill/>
          <a:ln/>
        </p:spPr>
        <p:txBody>
          <a:bodyPr wrap="square" lIns="0" tIns="0" rIns="0" bIns="0" rtlCol="0" anchor="t"/>
          <a:lstStyle/>
          <a:p>
            <a:pPr indent="0" marL="0">
              <a:buNone/>
            </a:pPr>
            <a:r>
              <a:rPr lang="en-US" sz="1800" b="1" dirty="0">
                <a:solidFill>
                  <a:schemeClr val="tx2"/>
                </a:solidFill>
              </a:rPr>
              <a:t>Masse froide</a:t>
            </a:r>
            <a:endParaRPr lang="en-US" sz="1800" dirty="0"/>
          </a:p>
        </p:txBody>
      </p:sp>
      <p:sp>
        <p:nvSpPr>
          <p:cNvPr id="8" name="Profil segment 1"/>
          <p:cNvSpPr txBox="1"/>
          <p:nvPr/>
        </p:nvSpPr>
        <p:spPr>
          <a:xfrm>
            <a:off x="777240" y="3337560"/>
            <a:ext cx="22402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Jamais contactés</a:t>
            </a:r>
            <a:endParaRPr lang="en-US" sz="1400" dirty="0"/>
          </a:p>
          <a:p>
            <a:pPr marL="342900" indent="-342900">
              <a:spcAft>
                <a:spcPts val="600"/>
              </a:spcAft>
              <a:buSzPct val="100000"/>
              <a:buChar char="•"/>
            </a:pPr>
            <a:r>
              <a:rPr lang="en-US" sz="1400" dirty="0">
                <a:solidFill>
                  <a:schemeClr val="tx1"/>
                </a:solidFill>
              </a:rPr>
              <a:t>51 % sur ligne fixe</a:t>
            </a:r>
            <a:endParaRPr lang="en-US" sz="1400" dirty="0"/>
          </a:p>
          <a:p>
            <a:pPr marL="342900" indent="-342900">
              <a:spcAft>
                <a:spcPts val="600"/>
              </a:spcAft>
              <a:buSzPct val="100000"/>
              <a:buChar char="•"/>
            </a:pPr>
            <a:r>
              <a:rPr lang="en-US" sz="1400" dirty="0">
                <a:solidFill>
                  <a:schemeClr val="tx1"/>
                </a:solidFill>
              </a:rPr>
              <a:t>Taux élevés (Euribor 4,8 %)</a:t>
            </a:r>
            <a:endParaRPr lang="en-US" sz="1400" dirty="0"/>
          </a:p>
          <a:p>
            <a:pPr marL="342900" indent="-342900">
              <a:spcAft>
                <a:spcPts val="600"/>
              </a:spcAft>
              <a:buSzPct val="100000"/>
              <a:buChar char="•"/>
            </a:pPr>
            <a:r>
              <a:rPr lang="en-US" sz="1400" dirty="0">
                <a:solidFill>
                  <a:schemeClr val="tx1"/>
                </a:solidFill>
              </a:rPr>
              <a:t>2,8 appels en moyenne</a:t>
            </a:r>
            <a:endParaRPr lang="en-US" sz="1400" dirty="0"/>
          </a:p>
        </p:txBody>
      </p:sp>
      <p:sp>
        <p:nvSpPr>
          <p:cNvPr id="9" name="Carte segment 2"/>
          <p:cNvSpPr/>
          <p:nvPr/>
        </p:nvSpPr>
        <p:spPr>
          <a:xfrm>
            <a:off x="3364992" y="1371600"/>
            <a:ext cx="2606040" cy="4754880"/>
          </a:xfrm>
          <a:prstGeom prst="roundRect">
            <a:avLst>
              <a:gd name="adj" fmla="val 4211"/>
            </a:avLst>
          </a:prstGeom>
          <a:solidFill>
            <a:schemeClr val="bg1"/>
          </a:solidFill>
          <a:ln/>
          <a:effectLst>
            <a:outerShdw sx="100000" sy="100000" kx="0" ky="0" algn="bl" rotWithShape="0" blurRad="76200" dist="25400" dir="5400000">
              <a:srgbClr val="000000">
                <a:alpha val="12000"/>
              </a:srgbClr>
            </a:outerShdw>
          </a:effectLst>
        </p:spPr>
      </p:sp>
      <p:sp>
        <p:nvSpPr>
          <p:cNvPr id="10" name="Pastille segment 2"/>
          <p:cNvSpPr/>
          <p:nvPr/>
        </p:nvSpPr>
        <p:spPr>
          <a:xfrm>
            <a:off x="3593592" y="1600200"/>
            <a:ext cx="731520" cy="731520"/>
          </a:xfrm>
          <a:prstGeom prst="ellipse">
            <a:avLst/>
          </a:prstGeom>
          <a:solidFill>
            <a:schemeClr val="accent2"/>
          </a:solidFill>
          <a:ln/>
        </p:spPr>
      </p:sp>
      <p:sp>
        <p:nvSpPr>
          <p:cNvPr id="11" name="Pastille segment 2 texte"/>
          <p:cNvSpPr txBox="1"/>
          <p:nvPr/>
        </p:nvSpPr>
        <p:spPr>
          <a:xfrm>
            <a:off x="3593592" y="16002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S2</a:t>
            </a:r>
            <a:endParaRPr lang="en-US" sz="1800" dirty="0"/>
          </a:p>
        </p:txBody>
      </p:sp>
      <p:sp>
        <p:nvSpPr>
          <p:cNvPr id="12" name="Part segment 2"/>
          <p:cNvSpPr txBox="1"/>
          <p:nvPr/>
        </p:nvSpPr>
        <p:spPr>
          <a:xfrm>
            <a:off x="4462272" y="1600200"/>
            <a:ext cx="1371600" cy="73152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17 %</a:t>
            </a:r>
            <a:endParaRPr lang="en-US" sz="3600" dirty="0"/>
          </a:p>
        </p:txBody>
      </p:sp>
      <p:sp>
        <p:nvSpPr>
          <p:cNvPr id="13" name="Nom segment 2"/>
          <p:cNvSpPr txBox="1"/>
          <p:nvPr/>
        </p:nvSpPr>
        <p:spPr>
          <a:xfrm>
            <a:off x="3593592" y="2514600"/>
            <a:ext cx="2194560" cy="777240"/>
          </a:xfrm>
          <a:prstGeom prst="rect">
            <a:avLst/>
          </a:prstGeom>
          <a:noFill/>
          <a:ln/>
        </p:spPr>
        <p:txBody>
          <a:bodyPr wrap="square" lIns="0" tIns="0" rIns="0" bIns="0" rtlCol="0" anchor="t"/>
          <a:lstStyle/>
          <a:p>
            <a:pPr indent="0" marL="0">
              <a:buNone/>
            </a:pPr>
            <a:r>
              <a:rPr lang="en-US" sz="1800" b="1" dirty="0">
                <a:solidFill>
                  <a:schemeClr val="tx2"/>
                </a:solidFill>
              </a:rPr>
              <a:t>Jeunes actifs mobiles</a:t>
            </a:r>
            <a:endParaRPr lang="en-US" sz="1800" dirty="0"/>
          </a:p>
        </p:txBody>
      </p:sp>
      <p:sp>
        <p:nvSpPr>
          <p:cNvPr id="14" name="Profil segment 2"/>
          <p:cNvSpPr txBox="1"/>
          <p:nvPr/>
        </p:nvSpPr>
        <p:spPr>
          <a:xfrm>
            <a:off x="3593592" y="3337560"/>
            <a:ext cx="22402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38 ans, 36 % célibataires</a:t>
            </a:r>
            <a:endParaRPr lang="en-US" sz="1400" dirty="0"/>
          </a:p>
          <a:p>
            <a:pPr marL="342900" indent="-342900">
              <a:spcAft>
                <a:spcPts val="600"/>
              </a:spcAft>
              <a:buSzPct val="100000"/>
              <a:buChar char="•"/>
            </a:pPr>
            <a:r>
              <a:rPr lang="en-US" sz="1400" dirty="0">
                <a:solidFill>
                  <a:schemeClr val="tx1"/>
                </a:solidFill>
              </a:rPr>
              <a:t>90 % sur mobile</a:t>
            </a:r>
            <a:endParaRPr lang="en-US" sz="1400" dirty="0"/>
          </a:p>
          <a:p>
            <a:pPr marL="342900" indent="-342900">
              <a:spcAft>
                <a:spcPts val="600"/>
              </a:spcAft>
              <a:buSzPct val="100000"/>
              <a:buChar char="•"/>
            </a:pPr>
            <a:r>
              <a:rPr lang="en-US" sz="1400" dirty="0">
                <a:solidFill>
                  <a:schemeClr val="tx1"/>
                </a:solidFill>
              </a:rPr>
              <a:t>Taux bas (Euribor 1,3 %)</a:t>
            </a:r>
            <a:endParaRPr lang="en-US" sz="1400" dirty="0"/>
          </a:p>
          <a:p>
            <a:pPr marL="342900" indent="-342900">
              <a:spcAft>
                <a:spcPts val="600"/>
              </a:spcAft>
              <a:buSzPct val="100000"/>
              <a:buChar char="•"/>
            </a:pPr>
            <a:r>
              <a:rPr lang="en-US" sz="1400" dirty="0">
                <a:solidFill>
                  <a:schemeClr val="tx1"/>
                </a:solidFill>
              </a:rPr>
              <a:t>Ménages inquiets (−46)</a:t>
            </a:r>
            <a:endParaRPr lang="en-US" sz="1400" dirty="0"/>
          </a:p>
        </p:txBody>
      </p:sp>
      <p:sp>
        <p:nvSpPr>
          <p:cNvPr id="15" name="Carte segment 3"/>
          <p:cNvSpPr/>
          <p:nvPr/>
        </p:nvSpPr>
        <p:spPr>
          <a:xfrm>
            <a:off x="6181344" y="1371600"/>
            <a:ext cx="2606040" cy="4754880"/>
          </a:xfrm>
          <a:prstGeom prst="roundRect">
            <a:avLst>
              <a:gd name="adj" fmla="val 4211"/>
            </a:avLst>
          </a:prstGeom>
          <a:solidFill>
            <a:schemeClr val="bg1"/>
          </a:solidFill>
          <a:ln/>
          <a:effectLst>
            <a:outerShdw sx="100000" sy="100000" kx="0" ky="0" algn="bl" rotWithShape="0" blurRad="76200" dist="25400" dir="5400000">
              <a:srgbClr val="000000">
                <a:alpha val="12000"/>
              </a:srgbClr>
            </a:outerShdw>
          </a:effectLst>
        </p:spPr>
      </p:sp>
      <p:sp>
        <p:nvSpPr>
          <p:cNvPr id="16" name="Pastille segment 3"/>
          <p:cNvSpPr/>
          <p:nvPr/>
        </p:nvSpPr>
        <p:spPr>
          <a:xfrm>
            <a:off x="6409944" y="1600200"/>
            <a:ext cx="731520" cy="731520"/>
          </a:xfrm>
          <a:prstGeom prst="ellipse">
            <a:avLst/>
          </a:prstGeom>
          <a:solidFill>
            <a:schemeClr val="accent3"/>
          </a:solidFill>
          <a:ln/>
        </p:spPr>
      </p:sp>
      <p:sp>
        <p:nvSpPr>
          <p:cNvPr id="17" name="Pastille segment 3 texte"/>
          <p:cNvSpPr txBox="1"/>
          <p:nvPr/>
        </p:nvSpPr>
        <p:spPr>
          <a:xfrm>
            <a:off x="6409944" y="16002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S3</a:t>
            </a:r>
            <a:endParaRPr lang="en-US" sz="1800" dirty="0"/>
          </a:p>
        </p:txBody>
      </p:sp>
      <p:sp>
        <p:nvSpPr>
          <p:cNvPr id="18" name="Part segment 3"/>
          <p:cNvSpPr txBox="1"/>
          <p:nvPr/>
        </p:nvSpPr>
        <p:spPr>
          <a:xfrm>
            <a:off x="7278624" y="1600200"/>
            <a:ext cx="1371600" cy="7315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6 %</a:t>
            </a:r>
            <a:endParaRPr lang="en-US" sz="3600" dirty="0"/>
          </a:p>
        </p:txBody>
      </p:sp>
      <p:sp>
        <p:nvSpPr>
          <p:cNvPr id="19" name="Nom segment 3"/>
          <p:cNvSpPr txBox="1"/>
          <p:nvPr/>
        </p:nvSpPr>
        <p:spPr>
          <a:xfrm>
            <a:off x="6409944" y="2514600"/>
            <a:ext cx="2194560" cy="777240"/>
          </a:xfrm>
          <a:prstGeom prst="rect">
            <a:avLst/>
          </a:prstGeom>
          <a:noFill/>
          <a:ln/>
        </p:spPr>
        <p:txBody>
          <a:bodyPr wrap="square" lIns="0" tIns="0" rIns="0" bIns="0" rtlCol="0" anchor="t"/>
          <a:lstStyle/>
          <a:p>
            <a:pPr indent="0" marL="0">
              <a:buNone/>
            </a:pPr>
            <a:r>
              <a:rPr lang="en-US" sz="1800" b="1" dirty="0">
                <a:solidFill>
                  <a:schemeClr val="tx2"/>
                </a:solidFill>
              </a:rPr>
              <a:t>Seniors épargnants</a:t>
            </a:r>
            <a:endParaRPr lang="en-US" sz="1800" dirty="0"/>
          </a:p>
        </p:txBody>
      </p:sp>
      <p:sp>
        <p:nvSpPr>
          <p:cNvPr id="20" name="Profil segment 3"/>
          <p:cNvSpPr txBox="1"/>
          <p:nvPr/>
        </p:nvSpPr>
        <p:spPr>
          <a:xfrm>
            <a:off x="6409944" y="3337560"/>
            <a:ext cx="22402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47 ans, 21 % retraités</a:t>
            </a:r>
            <a:endParaRPr lang="en-US" sz="1400" dirty="0"/>
          </a:p>
          <a:p>
            <a:pPr marL="342900" indent="-342900">
              <a:spcAft>
                <a:spcPts val="600"/>
              </a:spcAft>
              <a:buSzPct val="100000"/>
              <a:buChar char="•"/>
            </a:pPr>
            <a:r>
              <a:rPr lang="en-US" sz="1400" dirty="0">
                <a:solidFill>
                  <a:schemeClr val="tx1"/>
                </a:solidFill>
              </a:rPr>
              <a:t>3 % défaut non déclaré</a:t>
            </a:r>
            <a:endParaRPr lang="en-US" sz="1400" dirty="0"/>
          </a:p>
          <a:p>
            <a:pPr marL="342900" indent="-342900">
              <a:spcAft>
                <a:spcPts val="600"/>
              </a:spcAft>
              <a:buSzPct val="100000"/>
              <a:buChar char="•"/>
            </a:pPr>
            <a:r>
              <a:rPr lang="en-US" sz="1400" dirty="0">
                <a:solidFill>
                  <a:schemeClr val="tx1"/>
                </a:solidFill>
              </a:rPr>
              <a:t>37 % déjà contactés</a:t>
            </a:r>
            <a:endParaRPr lang="en-US" sz="1400" dirty="0"/>
          </a:p>
          <a:p>
            <a:pPr marL="342900" indent="-342900">
              <a:spcAft>
                <a:spcPts val="600"/>
              </a:spcAft>
              <a:buSzPct val="100000"/>
              <a:buChar char="•"/>
            </a:pPr>
            <a:r>
              <a:rPr lang="en-US" sz="1400" dirty="0">
                <a:solidFill>
                  <a:schemeClr val="tx1"/>
                </a:solidFill>
              </a:rPr>
              <a:t>Taux au plancher (0,8 %)</a:t>
            </a:r>
            <a:endParaRPr lang="en-US" sz="1400" dirty="0"/>
          </a:p>
        </p:txBody>
      </p:sp>
      <p:sp>
        <p:nvSpPr>
          <p:cNvPr id="21" name="Carte segment 4"/>
          <p:cNvSpPr/>
          <p:nvPr/>
        </p:nvSpPr>
        <p:spPr>
          <a:xfrm>
            <a:off x="8997696" y="1371600"/>
            <a:ext cx="2606040" cy="4754880"/>
          </a:xfrm>
          <a:prstGeom prst="roundRect">
            <a:avLst>
              <a:gd name="adj" fmla="val 4211"/>
            </a:avLst>
          </a:prstGeom>
          <a:solidFill>
            <a:schemeClr val="bg1"/>
          </a:solidFill>
          <a:ln/>
          <a:effectLst>
            <a:outerShdw sx="100000" sy="100000" kx="0" ky="0" algn="bl" rotWithShape="0" blurRad="76200" dist="25400" dir="5400000">
              <a:srgbClr val="000000">
                <a:alpha val="12000"/>
              </a:srgbClr>
            </a:outerShdw>
          </a:effectLst>
        </p:spPr>
      </p:sp>
      <p:sp>
        <p:nvSpPr>
          <p:cNvPr id="22" name="Pastille segment 4"/>
          <p:cNvSpPr/>
          <p:nvPr/>
        </p:nvSpPr>
        <p:spPr>
          <a:xfrm>
            <a:off x="9226296" y="1600200"/>
            <a:ext cx="731520" cy="731520"/>
          </a:xfrm>
          <a:prstGeom prst="ellipse">
            <a:avLst/>
          </a:prstGeom>
          <a:solidFill>
            <a:schemeClr val="accent4"/>
          </a:solidFill>
          <a:ln/>
        </p:spPr>
      </p:sp>
      <p:sp>
        <p:nvSpPr>
          <p:cNvPr id="23" name="Pastille segment 4 texte"/>
          <p:cNvSpPr txBox="1"/>
          <p:nvPr/>
        </p:nvSpPr>
        <p:spPr>
          <a:xfrm>
            <a:off x="9226296" y="16002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S4</a:t>
            </a:r>
            <a:endParaRPr lang="en-US" sz="1800" dirty="0"/>
          </a:p>
        </p:txBody>
      </p:sp>
      <p:sp>
        <p:nvSpPr>
          <p:cNvPr id="24" name="Part segment 4"/>
          <p:cNvSpPr txBox="1"/>
          <p:nvPr/>
        </p:nvSpPr>
        <p:spPr>
          <a:xfrm>
            <a:off x="10094976" y="1600200"/>
            <a:ext cx="1371600" cy="73152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11 %</a:t>
            </a:r>
            <a:endParaRPr lang="en-US" sz="3600" dirty="0"/>
          </a:p>
        </p:txBody>
      </p:sp>
      <p:sp>
        <p:nvSpPr>
          <p:cNvPr id="25" name="Nom segment 4"/>
          <p:cNvSpPr txBox="1"/>
          <p:nvPr/>
        </p:nvSpPr>
        <p:spPr>
          <a:xfrm>
            <a:off x="9226296" y="2514600"/>
            <a:ext cx="2194560" cy="777240"/>
          </a:xfrm>
          <a:prstGeom prst="rect">
            <a:avLst/>
          </a:prstGeom>
          <a:noFill/>
          <a:ln/>
        </p:spPr>
        <p:txBody>
          <a:bodyPr wrap="square" lIns="0" tIns="0" rIns="0" bIns="0" rtlCol="0" anchor="t"/>
          <a:lstStyle/>
          <a:p>
            <a:pPr indent="0" marL="0">
              <a:buNone/>
            </a:pPr>
            <a:r>
              <a:rPr lang="en-US" sz="1800" b="1" dirty="0">
                <a:solidFill>
                  <a:schemeClr val="tx2"/>
                </a:solidFill>
              </a:rPr>
              <a:t>Déjà sollicités</a:t>
            </a:r>
            <a:endParaRPr lang="en-US" sz="1800" dirty="0"/>
          </a:p>
        </p:txBody>
      </p:sp>
      <p:sp>
        <p:nvSpPr>
          <p:cNvPr id="26" name="Profil segment 4"/>
          <p:cNvSpPr txBox="1"/>
          <p:nvPr/>
        </p:nvSpPr>
        <p:spPr>
          <a:xfrm>
            <a:off x="9226296" y="3337560"/>
            <a:ext cx="224028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Tous contactés avant</a:t>
            </a:r>
            <a:endParaRPr lang="en-US" sz="1400" dirty="0"/>
          </a:p>
          <a:p>
            <a:pPr marL="342900" indent="-342900">
              <a:spcAft>
                <a:spcPts val="600"/>
              </a:spcAft>
              <a:buSzPct val="100000"/>
              <a:buChar char="•"/>
            </a:pPr>
            <a:r>
              <a:rPr lang="en-US" sz="1400" dirty="0">
                <a:solidFill>
                  <a:schemeClr val="tx1"/>
                </a:solidFill>
              </a:rPr>
              <a:t>80 % échecs, 20 % succès</a:t>
            </a:r>
            <a:endParaRPr lang="en-US" sz="1400" dirty="0"/>
          </a:p>
          <a:p>
            <a:pPr marL="342900" indent="-342900">
              <a:spcAft>
                <a:spcPts val="600"/>
              </a:spcAft>
              <a:buSzPct val="100000"/>
              <a:buChar char="•"/>
            </a:pPr>
            <a:r>
              <a:rPr lang="en-US" sz="1400" dirty="0">
                <a:solidFill>
                  <a:schemeClr val="tx1"/>
                </a:solidFill>
              </a:rPr>
              <a:t>93 % sur mobile</a:t>
            </a:r>
            <a:endParaRPr lang="en-US" sz="1400" dirty="0"/>
          </a:p>
          <a:p>
            <a:pPr marL="342900" indent="-342900">
              <a:spcAft>
                <a:spcPts val="600"/>
              </a:spcAft>
              <a:buSzPct val="100000"/>
              <a:buChar char="•"/>
            </a:pPr>
            <a:r>
              <a:rPr lang="en-US" sz="1400" dirty="0">
                <a:solidFill>
                  <a:schemeClr val="tx1"/>
                </a:solidFill>
              </a:rPr>
              <a:t>Taux bas (Euribor 1,6 %)</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35 % des clients concentrent 72 % des souscripteurs</a:t>
            </a:r>
            <a:endParaRPr lang="en-US" sz="3200" dirty="0"/>
          </a:p>
        </p:txBody>
      </p:sp>
      <p:graphicFrame>
        <p:nvGraphicFramePr>
          <p:cNvPr id="3" name="Graphique taux de souscription"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arte lift"/>
          <p:cNvSpPr/>
          <p:nvPr/>
        </p:nvSpPr>
        <p:spPr>
          <a:xfrm>
            <a:off x="7863840" y="1417320"/>
            <a:ext cx="3749040" cy="2103120"/>
          </a:xfrm>
          <a:prstGeom prst="roundRect">
            <a:avLst>
              <a:gd name="adj" fmla="val 5217"/>
            </a:avLst>
          </a:prstGeom>
          <a:solidFill>
            <a:schemeClr val="bg2"/>
          </a:solidFill>
          <a:ln/>
          <a:effectLst>
            <a:outerShdw sx="100000" sy="100000" kx="0" ky="0" algn="bl" rotWithShape="0" blurRad="76200" dist="25400" dir="5400000">
              <a:srgbClr val="000000">
                <a:alpha val="12000"/>
              </a:srgbClr>
            </a:outerShdw>
          </a:effectLst>
        </p:spPr>
      </p:sp>
      <p:sp>
        <p:nvSpPr>
          <p:cNvPr id="5" name="Chiffre lift"/>
          <p:cNvSpPr txBox="1"/>
          <p:nvPr/>
        </p:nvSpPr>
        <p:spPr>
          <a:xfrm>
            <a:off x="8138160" y="1554480"/>
            <a:ext cx="3200400" cy="914400"/>
          </a:xfrm>
          <a:prstGeom prst="rect">
            <a:avLst/>
          </a:prstGeom>
          <a:noFill/>
          <a:ln/>
        </p:spPr>
        <p:txBody>
          <a:bodyPr wrap="square" lIns="0" tIns="0" rIns="0" bIns="0" rtlCol="0" anchor="t"/>
          <a:lstStyle/>
          <a:p>
            <a:pPr indent="0" marL="0">
              <a:buNone/>
            </a:pPr>
            <a:r>
              <a:rPr lang="en-US" sz="5400" b="1" dirty="0">
                <a:solidFill>
                  <a:schemeClr val="accent3"/>
                </a:solidFill>
                <a:latin typeface="Cambria" pitchFamily="34" charset="0"/>
                <a:ea typeface="Cambria" pitchFamily="34" charset="-122"/>
                <a:cs typeface="Cambria" pitchFamily="34" charset="-120"/>
              </a:rPr>
              <a:t>× 3,8</a:t>
            </a:r>
            <a:endParaRPr lang="en-US" sz="5400" dirty="0"/>
          </a:p>
        </p:txBody>
      </p:sp>
      <p:sp>
        <p:nvSpPr>
          <p:cNvPr id="6" name="Texte lift"/>
          <p:cNvSpPr txBox="1"/>
          <p:nvPr/>
        </p:nvSpPr>
        <p:spPr>
          <a:xfrm>
            <a:off x="8138160" y="2514600"/>
            <a:ext cx="3200400" cy="822960"/>
          </a:xfrm>
          <a:prstGeom prst="rect">
            <a:avLst/>
          </a:prstGeom>
          <a:noFill/>
          <a:ln/>
        </p:spPr>
        <p:txBody>
          <a:bodyPr wrap="square" lIns="0" tIns="0" rIns="0" bIns="0" rtlCol="0" anchor="t"/>
          <a:lstStyle/>
          <a:p>
            <a:pPr indent="0" marL="0">
              <a:buNone/>
            </a:pPr>
            <a:r>
              <a:rPr lang="en-US" sz="1500" dirty="0">
                <a:solidFill>
                  <a:schemeClr val="tx1"/>
                </a:solidFill>
              </a:rPr>
              <a:t>lift des seniors épargnants : 42,5 % de souscription contre 11,3 %</a:t>
            </a:r>
            <a:endParaRPr lang="en-US" sz="1500" dirty="0"/>
          </a:p>
        </p:txBody>
      </p:sp>
      <p:sp>
        <p:nvSpPr>
          <p:cNvPr id="7" name="Carte période"/>
          <p:cNvSpPr/>
          <p:nvPr/>
        </p:nvSpPr>
        <p:spPr>
          <a:xfrm>
            <a:off x="7863840" y="3794760"/>
            <a:ext cx="3749040" cy="2286000"/>
          </a:xfrm>
          <a:prstGeom prst="roundRect">
            <a:avLst>
              <a:gd name="adj" fmla="val 4800"/>
            </a:avLst>
          </a:prstGeom>
          <a:solidFill>
            <a:schemeClr val="bg2"/>
          </a:solidFill>
          <a:ln/>
          <a:effectLst>
            <a:outerShdw sx="100000" sy="100000" kx="0" ky="0" algn="bl" rotWithShape="0" blurRad="76200" dist="25400" dir="5400000">
              <a:srgbClr val="000000">
                <a:alpha val="12000"/>
              </a:srgbClr>
            </a:outerShdw>
          </a:effectLst>
        </p:spPr>
      </p:sp>
      <p:sp>
        <p:nvSpPr>
          <p:cNvPr id="8" name="Titre période"/>
          <p:cNvSpPr txBox="1"/>
          <p:nvPr/>
        </p:nvSpPr>
        <p:spPr>
          <a:xfrm>
            <a:off x="8138160" y="3931920"/>
            <a:ext cx="3200400" cy="457200"/>
          </a:xfrm>
          <a:prstGeom prst="rect">
            <a:avLst/>
          </a:prstGeom>
          <a:noFill/>
          <a:ln/>
        </p:spPr>
        <p:txBody>
          <a:bodyPr wrap="square" lIns="0" tIns="0" rIns="0" bIns="0" rtlCol="0" anchor="t"/>
          <a:lstStyle/>
          <a:p>
            <a:pPr indent="0" marL="0">
              <a:buNone/>
            </a:pPr>
            <a:r>
              <a:rPr lang="en-US" sz="2000" b="1" dirty="0">
                <a:solidFill>
                  <a:schemeClr val="tx2"/>
                </a:solidFill>
              </a:rPr>
              <a:t>Effet de période</a:t>
            </a:r>
            <a:endParaRPr lang="en-US" sz="2000" dirty="0"/>
          </a:p>
        </p:txBody>
      </p:sp>
      <p:sp>
        <p:nvSpPr>
          <p:cNvPr id="9" name="Texte période"/>
          <p:cNvSpPr txBox="1"/>
          <p:nvPr/>
        </p:nvSpPr>
        <p:spPr>
          <a:xfrm>
            <a:off x="8138160" y="4434840"/>
            <a:ext cx="3200400" cy="1463040"/>
          </a:xfrm>
          <a:prstGeom prst="rect">
            <a:avLst/>
          </a:prstGeom>
          <a:noFill/>
          <a:ln/>
        </p:spPr>
        <p:txBody>
          <a:bodyPr wrap="square" lIns="0" tIns="0" rIns="0" bIns="0" rtlCol="0" anchor="t"/>
          <a:lstStyle/>
          <a:p>
            <a:pPr indent="0" marL="0">
              <a:buNone/>
            </a:pPr>
            <a:r>
              <a:rPr lang="en-US" sz="1500" dirty="0">
                <a:solidFill>
                  <a:schemeClr val="tx1"/>
                </a:solidFill>
              </a:rPr>
              <a:t>S1 = appels de 2008 (taux élevés) ; S3 n'apparaît qu'en 2010. Le contexte de taux compte autant que le client.</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Une action marketing par segment</a:t>
            </a:r>
            <a:endParaRPr lang="en-US" sz="3200" dirty="0"/>
          </a:p>
        </p:txBody>
      </p:sp>
      <p:sp>
        <p:nvSpPr>
          <p:cNvPr id="3" name="Ligne reco 1"/>
          <p:cNvSpPr/>
          <p:nvPr/>
        </p:nvSpPr>
        <p:spPr>
          <a:xfrm>
            <a:off x="548640" y="1371600"/>
            <a:ext cx="11064240" cy="1005840"/>
          </a:xfrm>
          <a:prstGeom prst="roundRect">
            <a:avLst>
              <a:gd name="adj" fmla="val 10909"/>
            </a:avLst>
          </a:prstGeom>
          <a:solidFill>
            <a:schemeClr val="bg2"/>
          </a:solidFill>
          <a:ln/>
          <a:effectLst>
            <a:outerShdw sx="100000" sy="100000" kx="0" ky="0" algn="bl" rotWithShape="0" blurRad="76200" dist="25400" dir="5400000">
              <a:srgbClr val="000000">
                <a:alpha val="12000"/>
              </a:srgbClr>
            </a:outerShdw>
          </a:effectLst>
        </p:spPr>
      </p:sp>
      <p:sp>
        <p:nvSpPr>
          <p:cNvPr id="4" name="Pastille reco 1"/>
          <p:cNvSpPr/>
          <p:nvPr/>
        </p:nvSpPr>
        <p:spPr>
          <a:xfrm>
            <a:off x="777240" y="1508760"/>
            <a:ext cx="731520" cy="731520"/>
          </a:xfrm>
          <a:prstGeom prst="ellipse">
            <a:avLst/>
          </a:prstGeom>
          <a:solidFill>
            <a:schemeClr val="accent1"/>
          </a:solidFill>
          <a:ln/>
        </p:spPr>
      </p:sp>
      <p:sp>
        <p:nvSpPr>
          <p:cNvPr id="5" name="Pastille reco 1 texte"/>
          <p:cNvSpPr txBox="1"/>
          <p:nvPr/>
        </p:nvSpPr>
        <p:spPr>
          <a:xfrm>
            <a:off x="777240" y="150876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S1</a:t>
            </a:r>
            <a:endParaRPr lang="en-US" sz="1800" dirty="0"/>
          </a:p>
        </p:txBody>
      </p:sp>
      <p:sp>
        <p:nvSpPr>
          <p:cNvPr id="6" name="Titre reco 1"/>
          <p:cNvSpPr txBox="1"/>
          <p:nvPr/>
        </p:nvSpPr>
        <p:spPr>
          <a:xfrm>
            <a:off x="1783080" y="1481328"/>
            <a:ext cx="2651760" cy="777240"/>
          </a:xfrm>
          <a:prstGeom prst="rect">
            <a:avLst/>
          </a:prstGeom>
          <a:noFill/>
          <a:ln/>
        </p:spPr>
        <p:txBody>
          <a:bodyPr wrap="square" lIns="0" tIns="0" rIns="0" bIns="0" rtlCol="0" anchor="ctr"/>
          <a:lstStyle/>
          <a:p>
            <a:pPr indent="0" marL="0">
              <a:buNone/>
            </a:pPr>
            <a:r>
              <a:rPr lang="en-US" sz="1800" b="1" dirty="0">
                <a:solidFill>
                  <a:schemeClr val="tx2"/>
                </a:solidFill>
              </a:rPr>
              <a:t>Réduire la pression</a:t>
            </a:r>
            <a:endParaRPr lang="en-US" sz="1800" dirty="0"/>
          </a:p>
        </p:txBody>
      </p:sp>
      <p:sp>
        <p:nvSpPr>
          <p:cNvPr id="7" name="Texte reco 1"/>
          <p:cNvSpPr txBox="1"/>
          <p:nvPr/>
        </p:nvSpPr>
        <p:spPr>
          <a:xfrm>
            <a:off x="4480560" y="1481328"/>
            <a:ext cx="5394960" cy="777240"/>
          </a:xfrm>
          <a:prstGeom prst="rect">
            <a:avLst/>
          </a:prstGeom>
          <a:noFill/>
          <a:ln/>
        </p:spPr>
        <p:txBody>
          <a:bodyPr wrap="square" lIns="0" tIns="0" rIns="0" bIns="0" rtlCol="0" anchor="ctr"/>
          <a:lstStyle/>
          <a:p>
            <a:pPr indent="0" marL="0">
              <a:buNone/>
            </a:pPr>
            <a:r>
              <a:rPr lang="en-US" sz="1500" dirty="0">
                <a:solidFill>
                  <a:schemeClr val="tx1"/>
                </a:solidFill>
              </a:rPr>
              <a:t>Plafonner à 2 appels ; SMS, e-mail, application ; appel conseiller seulement après un signal d'intérêt.</a:t>
            </a:r>
            <a:endParaRPr lang="en-US" sz="1500" dirty="0"/>
          </a:p>
        </p:txBody>
      </p:sp>
      <p:sp>
        <p:nvSpPr>
          <p:cNvPr id="8" name="Étiquette reco 1"/>
          <p:cNvSpPr/>
          <p:nvPr/>
        </p:nvSpPr>
        <p:spPr>
          <a:xfrm>
            <a:off x="10012680" y="1645920"/>
            <a:ext cx="1417320" cy="457200"/>
          </a:xfrm>
          <a:prstGeom prst="roundRect">
            <a:avLst>
              <a:gd name="adj" fmla="val 50000"/>
            </a:avLst>
          </a:prstGeom>
          <a:solidFill>
            <a:schemeClr val="accent1"/>
          </a:solidFill>
          <a:ln/>
        </p:spPr>
      </p:sp>
      <p:sp>
        <p:nvSpPr>
          <p:cNvPr id="9" name="Texte étiquette 1"/>
          <p:cNvSpPr txBox="1"/>
          <p:nvPr/>
        </p:nvSpPr>
        <p:spPr>
          <a:xfrm>
            <a:off x="10012680" y="164592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Canal bas coût</a:t>
            </a:r>
            <a:endParaRPr lang="en-US" sz="1300" dirty="0"/>
          </a:p>
        </p:txBody>
      </p:sp>
      <p:sp>
        <p:nvSpPr>
          <p:cNvPr id="10" name="Ligne reco 2"/>
          <p:cNvSpPr/>
          <p:nvPr/>
        </p:nvSpPr>
        <p:spPr>
          <a:xfrm>
            <a:off x="548640" y="2560320"/>
            <a:ext cx="11064240" cy="1005840"/>
          </a:xfrm>
          <a:prstGeom prst="roundRect">
            <a:avLst>
              <a:gd name="adj" fmla="val 10909"/>
            </a:avLst>
          </a:prstGeom>
          <a:solidFill>
            <a:schemeClr val="bg2"/>
          </a:solidFill>
          <a:ln/>
          <a:effectLst>
            <a:outerShdw sx="100000" sy="100000" kx="0" ky="0" algn="bl" rotWithShape="0" blurRad="76200" dist="25400" dir="5400000">
              <a:srgbClr val="000000">
                <a:alpha val="12000"/>
              </a:srgbClr>
            </a:outerShdw>
          </a:effectLst>
        </p:spPr>
      </p:sp>
      <p:sp>
        <p:nvSpPr>
          <p:cNvPr id="11" name="Pastille reco 2"/>
          <p:cNvSpPr/>
          <p:nvPr/>
        </p:nvSpPr>
        <p:spPr>
          <a:xfrm>
            <a:off x="777240" y="2697480"/>
            <a:ext cx="731520" cy="731520"/>
          </a:xfrm>
          <a:prstGeom prst="ellipse">
            <a:avLst/>
          </a:prstGeom>
          <a:solidFill>
            <a:schemeClr val="accent2"/>
          </a:solidFill>
          <a:ln/>
        </p:spPr>
      </p:sp>
      <p:sp>
        <p:nvSpPr>
          <p:cNvPr id="12" name="Pastille reco 2 texte"/>
          <p:cNvSpPr txBox="1"/>
          <p:nvPr/>
        </p:nvSpPr>
        <p:spPr>
          <a:xfrm>
            <a:off x="777240" y="269748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S2</a:t>
            </a:r>
            <a:endParaRPr lang="en-US" sz="1800" dirty="0"/>
          </a:p>
        </p:txBody>
      </p:sp>
      <p:sp>
        <p:nvSpPr>
          <p:cNvPr id="13" name="Titre reco 2"/>
          <p:cNvSpPr txBox="1"/>
          <p:nvPr/>
        </p:nvSpPr>
        <p:spPr>
          <a:xfrm>
            <a:off x="1783080" y="2670048"/>
            <a:ext cx="2651760" cy="777240"/>
          </a:xfrm>
          <a:prstGeom prst="rect">
            <a:avLst/>
          </a:prstGeom>
          <a:noFill/>
          <a:ln/>
        </p:spPr>
        <p:txBody>
          <a:bodyPr wrap="square" lIns="0" tIns="0" rIns="0" bIns="0" rtlCol="0" anchor="ctr"/>
          <a:lstStyle/>
          <a:p>
            <a:pPr indent="0" marL="0">
              <a:buNone/>
            </a:pPr>
            <a:r>
              <a:rPr lang="en-US" sz="1800" b="1" dirty="0">
                <a:solidFill>
                  <a:schemeClr val="tx2"/>
                </a:solidFill>
              </a:rPr>
              <a:t>Mobile-first</a:t>
            </a:r>
            <a:endParaRPr lang="en-US" sz="1800" dirty="0"/>
          </a:p>
        </p:txBody>
      </p:sp>
      <p:sp>
        <p:nvSpPr>
          <p:cNvPr id="14" name="Texte reco 2"/>
          <p:cNvSpPr txBox="1"/>
          <p:nvPr/>
        </p:nvSpPr>
        <p:spPr>
          <a:xfrm>
            <a:off x="4480560" y="2670048"/>
            <a:ext cx="5394960" cy="777240"/>
          </a:xfrm>
          <a:prstGeom prst="rect">
            <a:avLst/>
          </a:prstGeom>
          <a:noFill/>
          <a:ln/>
        </p:spPr>
        <p:txBody>
          <a:bodyPr wrap="square" lIns="0" tIns="0" rIns="0" bIns="0" rtlCol="0" anchor="ctr"/>
          <a:lstStyle/>
          <a:p>
            <a:pPr indent="0" marL="0">
              <a:buNone/>
            </a:pPr>
            <a:r>
              <a:rPr lang="en-US" sz="1500" dirty="0">
                <a:solidFill>
                  <a:schemeClr val="tx1"/>
                </a:solidFill>
              </a:rPr>
              <a:t>SMS + rappel ; dépôt à terme court et accessible ; souscription 100 % digitale.</a:t>
            </a:r>
            <a:endParaRPr lang="en-US" sz="1500" dirty="0"/>
          </a:p>
        </p:txBody>
      </p:sp>
      <p:sp>
        <p:nvSpPr>
          <p:cNvPr id="15" name="Étiquette reco 2"/>
          <p:cNvSpPr/>
          <p:nvPr/>
        </p:nvSpPr>
        <p:spPr>
          <a:xfrm>
            <a:off x="10012680" y="2834640"/>
            <a:ext cx="1417320" cy="457200"/>
          </a:xfrm>
          <a:prstGeom prst="roundRect">
            <a:avLst>
              <a:gd name="adj" fmla="val 50000"/>
            </a:avLst>
          </a:prstGeom>
          <a:solidFill>
            <a:schemeClr val="accent2"/>
          </a:solidFill>
          <a:ln/>
        </p:spPr>
      </p:sp>
      <p:sp>
        <p:nvSpPr>
          <p:cNvPr id="16" name="Texte étiquette 2"/>
          <p:cNvSpPr txBox="1"/>
          <p:nvPr/>
        </p:nvSpPr>
        <p:spPr>
          <a:xfrm>
            <a:off x="10012680" y="283464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Digital</a:t>
            </a:r>
            <a:endParaRPr lang="en-US" sz="1300" dirty="0"/>
          </a:p>
        </p:txBody>
      </p:sp>
      <p:sp>
        <p:nvSpPr>
          <p:cNvPr id="17" name="Ligne reco 3"/>
          <p:cNvSpPr/>
          <p:nvPr/>
        </p:nvSpPr>
        <p:spPr>
          <a:xfrm>
            <a:off x="548640" y="3749040"/>
            <a:ext cx="11064240" cy="1005840"/>
          </a:xfrm>
          <a:prstGeom prst="roundRect">
            <a:avLst>
              <a:gd name="adj" fmla="val 10909"/>
            </a:avLst>
          </a:prstGeom>
          <a:solidFill>
            <a:schemeClr val="bg2"/>
          </a:solidFill>
          <a:ln/>
          <a:effectLst>
            <a:outerShdw sx="100000" sy="100000" kx="0" ky="0" algn="bl" rotWithShape="0" blurRad="76200" dist="25400" dir="5400000">
              <a:srgbClr val="000000">
                <a:alpha val="12000"/>
              </a:srgbClr>
            </a:outerShdw>
          </a:effectLst>
        </p:spPr>
      </p:sp>
      <p:sp>
        <p:nvSpPr>
          <p:cNvPr id="18" name="Pastille reco 3"/>
          <p:cNvSpPr/>
          <p:nvPr/>
        </p:nvSpPr>
        <p:spPr>
          <a:xfrm>
            <a:off x="777240" y="3886200"/>
            <a:ext cx="731520" cy="731520"/>
          </a:xfrm>
          <a:prstGeom prst="ellipse">
            <a:avLst/>
          </a:prstGeom>
          <a:solidFill>
            <a:schemeClr val="accent3"/>
          </a:solidFill>
          <a:ln/>
        </p:spPr>
      </p:sp>
      <p:sp>
        <p:nvSpPr>
          <p:cNvPr id="19" name="Pastille reco 3 texte"/>
          <p:cNvSpPr txBox="1"/>
          <p:nvPr/>
        </p:nvSpPr>
        <p:spPr>
          <a:xfrm>
            <a:off x="777240" y="388620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S3</a:t>
            </a:r>
            <a:endParaRPr lang="en-US" sz="1800" dirty="0"/>
          </a:p>
        </p:txBody>
      </p:sp>
      <p:sp>
        <p:nvSpPr>
          <p:cNvPr id="20" name="Titre reco 3"/>
          <p:cNvSpPr txBox="1"/>
          <p:nvPr/>
        </p:nvSpPr>
        <p:spPr>
          <a:xfrm>
            <a:off x="1783080" y="3858768"/>
            <a:ext cx="2651760" cy="777240"/>
          </a:xfrm>
          <a:prstGeom prst="rect">
            <a:avLst/>
          </a:prstGeom>
          <a:noFill/>
          <a:ln/>
        </p:spPr>
        <p:txBody>
          <a:bodyPr wrap="square" lIns="0" tIns="0" rIns="0" bIns="0" rtlCol="0" anchor="ctr"/>
          <a:lstStyle/>
          <a:p>
            <a:pPr indent="0" marL="0">
              <a:buNone/>
            </a:pPr>
            <a:r>
              <a:rPr lang="en-US" sz="1800" b="1" dirty="0">
                <a:solidFill>
                  <a:schemeClr val="tx2"/>
                </a:solidFill>
              </a:rPr>
              <a:t>Conseiller dédié</a:t>
            </a:r>
            <a:endParaRPr lang="en-US" sz="1800" dirty="0"/>
          </a:p>
        </p:txBody>
      </p:sp>
      <p:sp>
        <p:nvSpPr>
          <p:cNvPr id="21" name="Texte reco 3"/>
          <p:cNvSpPr txBox="1"/>
          <p:nvPr/>
        </p:nvSpPr>
        <p:spPr>
          <a:xfrm>
            <a:off x="4480560" y="3858768"/>
            <a:ext cx="5394960" cy="777240"/>
          </a:xfrm>
          <a:prstGeom prst="rect">
            <a:avLst/>
          </a:prstGeom>
          <a:noFill/>
          <a:ln/>
        </p:spPr>
        <p:txBody>
          <a:bodyPr wrap="square" lIns="0" tIns="0" rIns="0" bIns="0" rtlCol="0" anchor="ctr"/>
          <a:lstStyle/>
          <a:p>
            <a:pPr indent="0" marL="0">
              <a:buNone/>
            </a:pPr>
            <a:r>
              <a:rPr lang="en-US" sz="1500" dirty="0">
                <a:solidFill>
                  <a:schemeClr val="tx1"/>
                </a:solidFill>
              </a:rPr>
              <a:t>Dépôt long à taux garanti, sécurité du capital, rendez-vous en agence ; un appel suffit.</a:t>
            </a:r>
            <a:endParaRPr lang="en-US" sz="1500" dirty="0"/>
          </a:p>
        </p:txBody>
      </p:sp>
      <p:sp>
        <p:nvSpPr>
          <p:cNvPr id="22" name="Étiquette reco 3"/>
          <p:cNvSpPr/>
          <p:nvPr/>
        </p:nvSpPr>
        <p:spPr>
          <a:xfrm>
            <a:off x="10012680" y="4023360"/>
            <a:ext cx="1417320" cy="457200"/>
          </a:xfrm>
          <a:prstGeom prst="roundRect">
            <a:avLst>
              <a:gd name="adj" fmla="val 50000"/>
            </a:avLst>
          </a:prstGeom>
          <a:solidFill>
            <a:schemeClr val="accent3"/>
          </a:solidFill>
          <a:ln/>
        </p:spPr>
      </p:sp>
      <p:sp>
        <p:nvSpPr>
          <p:cNvPr id="23" name="Texte étiquette 3"/>
          <p:cNvSpPr txBox="1"/>
          <p:nvPr/>
        </p:nvSpPr>
        <p:spPr>
          <a:xfrm>
            <a:off x="10012680" y="402336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Priorité 1</a:t>
            </a:r>
            <a:endParaRPr lang="en-US" sz="1300" dirty="0"/>
          </a:p>
        </p:txBody>
      </p:sp>
      <p:sp>
        <p:nvSpPr>
          <p:cNvPr id="24" name="Ligne reco 4"/>
          <p:cNvSpPr/>
          <p:nvPr/>
        </p:nvSpPr>
        <p:spPr>
          <a:xfrm>
            <a:off x="548640" y="4937760"/>
            <a:ext cx="11064240" cy="1005840"/>
          </a:xfrm>
          <a:prstGeom prst="roundRect">
            <a:avLst>
              <a:gd name="adj" fmla="val 10909"/>
            </a:avLst>
          </a:prstGeom>
          <a:solidFill>
            <a:schemeClr val="bg2"/>
          </a:solidFill>
          <a:ln/>
          <a:effectLst>
            <a:outerShdw sx="100000" sy="100000" kx="0" ky="0" algn="bl" rotWithShape="0" blurRad="76200" dist="25400" dir="5400000">
              <a:srgbClr val="000000">
                <a:alpha val="12000"/>
              </a:srgbClr>
            </a:outerShdw>
          </a:effectLst>
        </p:spPr>
      </p:sp>
      <p:sp>
        <p:nvSpPr>
          <p:cNvPr id="25" name="Pastille reco 4"/>
          <p:cNvSpPr/>
          <p:nvPr/>
        </p:nvSpPr>
        <p:spPr>
          <a:xfrm>
            <a:off x="777240" y="5074920"/>
            <a:ext cx="731520" cy="731520"/>
          </a:xfrm>
          <a:prstGeom prst="ellipse">
            <a:avLst/>
          </a:prstGeom>
          <a:solidFill>
            <a:schemeClr val="accent4"/>
          </a:solidFill>
          <a:ln/>
        </p:spPr>
      </p:sp>
      <p:sp>
        <p:nvSpPr>
          <p:cNvPr id="26" name="Pastille reco 4 texte"/>
          <p:cNvSpPr txBox="1"/>
          <p:nvPr/>
        </p:nvSpPr>
        <p:spPr>
          <a:xfrm>
            <a:off x="777240" y="5074920"/>
            <a:ext cx="731520" cy="731520"/>
          </a:xfrm>
          <a:prstGeom prst="rect">
            <a:avLst/>
          </a:prstGeom>
          <a:noFill/>
          <a:ln/>
        </p:spPr>
        <p:txBody>
          <a:bodyPr wrap="square" lIns="0" tIns="0" rIns="0" bIns="0" rtlCol="0" anchor="ctr"/>
          <a:lstStyle/>
          <a:p>
            <a:pPr algn="ctr" indent="0" marL="0">
              <a:buNone/>
            </a:pPr>
            <a:r>
              <a:rPr lang="en-US" sz="1800" b="1" dirty="0">
                <a:solidFill>
                  <a:schemeClr val="bg1"/>
                </a:solidFill>
              </a:rPr>
              <a:t>S4</a:t>
            </a:r>
            <a:endParaRPr lang="en-US" sz="1800" dirty="0"/>
          </a:p>
        </p:txBody>
      </p:sp>
      <p:sp>
        <p:nvSpPr>
          <p:cNvPr id="27" name="Titre reco 4"/>
          <p:cNvSpPr txBox="1"/>
          <p:nvPr/>
        </p:nvSpPr>
        <p:spPr>
          <a:xfrm>
            <a:off x="1783080" y="5047488"/>
            <a:ext cx="2651760" cy="777240"/>
          </a:xfrm>
          <a:prstGeom prst="rect">
            <a:avLst/>
          </a:prstGeom>
          <a:noFill/>
          <a:ln/>
        </p:spPr>
        <p:txBody>
          <a:bodyPr wrap="square" lIns="0" tIns="0" rIns="0" bIns="0" rtlCol="0" anchor="ctr"/>
          <a:lstStyle/>
          <a:p>
            <a:pPr indent="0" marL="0">
              <a:buNone/>
            </a:pPr>
            <a:r>
              <a:rPr lang="en-US" sz="1800" b="1" dirty="0">
                <a:solidFill>
                  <a:schemeClr val="tx2"/>
                </a:solidFill>
              </a:rPr>
              <a:t>Exploiter l'historique</a:t>
            </a:r>
            <a:endParaRPr lang="en-US" sz="1800" dirty="0"/>
          </a:p>
        </p:txBody>
      </p:sp>
      <p:sp>
        <p:nvSpPr>
          <p:cNvPr id="28" name="Texte reco 4"/>
          <p:cNvSpPr txBox="1"/>
          <p:nvPr/>
        </p:nvSpPr>
        <p:spPr>
          <a:xfrm>
            <a:off x="4480560" y="5047488"/>
            <a:ext cx="5394960" cy="777240"/>
          </a:xfrm>
          <a:prstGeom prst="rect">
            <a:avLst/>
          </a:prstGeom>
          <a:noFill/>
          <a:ln/>
        </p:spPr>
        <p:txBody>
          <a:bodyPr wrap="square" lIns="0" tIns="0" rIns="0" bIns="0" rtlCol="0" anchor="ctr"/>
          <a:lstStyle/>
          <a:p>
            <a:pPr indent="0" marL="0">
              <a:buNone/>
            </a:pPr>
            <a:r>
              <a:rPr lang="en-US" sz="1500" dirty="0">
                <a:solidFill>
                  <a:schemeClr val="tx1"/>
                </a:solidFill>
              </a:rPr>
              <a:t>Anciens souscripteurs : offre de renouvellement. Échecs : nouvelle offre, relances espacées.</a:t>
            </a:r>
            <a:endParaRPr lang="en-US" sz="1500" dirty="0"/>
          </a:p>
        </p:txBody>
      </p:sp>
      <p:sp>
        <p:nvSpPr>
          <p:cNvPr id="29" name="Étiquette reco 4"/>
          <p:cNvSpPr/>
          <p:nvPr/>
        </p:nvSpPr>
        <p:spPr>
          <a:xfrm>
            <a:off x="10012680" y="5212080"/>
            <a:ext cx="1417320" cy="457200"/>
          </a:xfrm>
          <a:prstGeom prst="roundRect">
            <a:avLst>
              <a:gd name="adj" fmla="val 50000"/>
            </a:avLst>
          </a:prstGeom>
          <a:solidFill>
            <a:schemeClr val="accent4"/>
          </a:solidFill>
          <a:ln/>
        </p:spPr>
      </p:sp>
      <p:sp>
        <p:nvSpPr>
          <p:cNvPr id="30" name="Texte étiquette 4"/>
          <p:cNvSpPr txBox="1"/>
          <p:nvPr/>
        </p:nvSpPr>
        <p:spPr>
          <a:xfrm>
            <a:off x="10012680" y="5212080"/>
            <a:ext cx="1417320" cy="457200"/>
          </a:xfrm>
          <a:prstGeom prst="rect">
            <a:avLst/>
          </a:prstGeom>
          <a:noFill/>
          <a:ln/>
        </p:spPr>
        <p:txBody>
          <a:bodyPr wrap="square" lIns="0" tIns="0" rIns="0" bIns="0" rtlCol="0" anchor="ctr"/>
          <a:lstStyle/>
          <a:p>
            <a:pPr algn="ctr" indent="0" marL="0">
              <a:buNone/>
            </a:pPr>
            <a:r>
              <a:rPr lang="en-US" sz="1300" b="1" dirty="0">
                <a:solidFill>
                  <a:schemeClr val="bg1"/>
                </a:solidFill>
              </a:rPr>
              <a:t>Fidélisation</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Pour aller plus loin : quatre extensions</a:t>
            </a:r>
            <a:endParaRPr lang="en-US" sz="3200" dirty="0"/>
          </a:p>
        </p:txBody>
      </p:sp>
      <p:sp>
        <p:nvSpPr>
          <p:cNvPr id="3" name="Carte bonus 1"/>
          <p:cNvSpPr/>
          <p:nvPr/>
        </p:nvSpPr>
        <p:spPr>
          <a:xfrm>
            <a:off x="548640" y="1371600"/>
            <a:ext cx="5440680" cy="219456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4" name="Titre bonus 1"/>
          <p:cNvSpPr txBox="1"/>
          <p:nvPr/>
        </p:nvSpPr>
        <p:spPr>
          <a:xfrm>
            <a:off x="822960" y="1554480"/>
            <a:ext cx="4846320" cy="411480"/>
          </a:xfrm>
          <a:prstGeom prst="rect">
            <a:avLst/>
          </a:prstGeom>
          <a:noFill/>
          <a:ln/>
        </p:spPr>
        <p:txBody>
          <a:bodyPr wrap="square" lIns="0" tIns="0" rIns="0" bIns="0" rtlCol="0" anchor="t"/>
          <a:lstStyle/>
          <a:p>
            <a:pPr indent="0" marL="0">
              <a:buNone/>
            </a:pPr>
            <a:r>
              <a:rPr lang="en-US" sz="1800" b="1" dirty="0">
                <a:solidFill>
                  <a:schemeClr val="tx2"/>
                </a:solidFill>
              </a:rPr>
              <a:t>Anomalies</a:t>
            </a:r>
            <a:endParaRPr lang="en-US" sz="1800" dirty="0"/>
          </a:p>
        </p:txBody>
      </p:sp>
      <p:sp>
        <p:nvSpPr>
          <p:cNvPr id="5" name="Chiffre bonus 1"/>
          <p:cNvSpPr txBox="1"/>
          <p:nvPr/>
        </p:nvSpPr>
        <p:spPr>
          <a:xfrm>
            <a:off x="822960" y="2057400"/>
            <a:ext cx="1737360" cy="118872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54 %</a:t>
            </a:r>
            <a:endParaRPr lang="en-US" sz="4000" dirty="0"/>
          </a:p>
        </p:txBody>
      </p:sp>
      <p:sp>
        <p:nvSpPr>
          <p:cNvPr id="6" name="Texte bonus 1"/>
          <p:cNvSpPr txBox="1"/>
          <p:nvPr/>
        </p:nvSpPr>
        <p:spPr>
          <a:xfrm>
            <a:off x="2606040" y="2057400"/>
            <a:ext cx="3108960" cy="1325880"/>
          </a:xfrm>
          <a:prstGeom prst="rect">
            <a:avLst/>
          </a:prstGeom>
          <a:noFill/>
          <a:ln/>
        </p:spPr>
        <p:txBody>
          <a:bodyPr wrap="square" lIns="0" tIns="0" rIns="0" bIns="0" rtlCol="0" anchor="ctr"/>
          <a:lstStyle/>
          <a:p>
            <a:pPr indent="0" marL="0">
              <a:buNone/>
            </a:pPr>
            <a:r>
              <a:rPr lang="en-US" sz="1400" dirty="0">
                <a:solidFill>
                  <a:schemeClr val="tx1"/>
                </a:solidFill>
              </a:rPr>
              <a:t>de souscription chez les 411 atypiques d'Isolation Forest : des niches à forte valeur, pas des erreurs.</a:t>
            </a:r>
            <a:endParaRPr lang="en-US" sz="1400" dirty="0"/>
          </a:p>
        </p:txBody>
      </p:sp>
      <p:sp>
        <p:nvSpPr>
          <p:cNvPr id="7" name="Carte bonus 2"/>
          <p:cNvSpPr/>
          <p:nvPr/>
        </p:nvSpPr>
        <p:spPr>
          <a:xfrm>
            <a:off x="6172200" y="1371600"/>
            <a:ext cx="5440680" cy="219456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8" name="Titre bonus 2"/>
          <p:cNvSpPr txBox="1"/>
          <p:nvPr/>
        </p:nvSpPr>
        <p:spPr>
          <a:xfrm>
            <a:off x="6446520" y="1554480"/>
            <a:ext cx="4846320" cy="411480"/>
          </a:xfrm>
          <a:prstGeom prst="rect">
            <a:avLst/>
          </a:prstGeom>
          <a:noFill/>
          <a:ln/>
        </p:spPr>
        <p:txBody>
          <a:bodyPr wrap="square" lIns="0" tIns="0" rIns="0" bIns="0" rtlCol="0" anchor="t"/>
          <a:lstStyle/>
          <a:p>
            <a:pPr indent="0" marL="0">
              <a:buNone/>
            </a:pPr>
            <a:r>
              <a:rPr lang="en-US" sz="1800" b="1" dirty="0">
                <a:solidFill>
                  <a:schemeClr val="tx2"/>
                </a:solidFill>
              </a:rPr>
              <a:t>Sélection de variables</a:t>
            </a:r>
            <a:endParaRPr lang="en-US" sz="1800" dirty="0"/>
          </a:p>
        </p:txBody>
      </p:sp>
      <p:sp>
        <p:nvSpPr>
          <p:cNvPr id="9" name="Chiffre bonus 2"/>
          <p:cNvSpPr txBox="1"/>
          <p:nvPr/>
        </p:nvSpPr>
        <p:spPr>
          <a:xfrm>
            <a:off x="6446520" y="2057400"/>
            <a:ext cx="1737360" cy="11887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a:t>
            </a:r>
            <a:endParaRPr lang="en-US" sz="4000" dirty="0"/>
          </a:p>
        </p:txBody>
      </p:sp>
      <p:sp>
        <p:nvSpPr>
          <p:cNvPr id="10" name="Texte bonus 2"/>
          <p:cNvSpPr txBox="1"/>
          <p:nvPr/>
        </p:nvSpPr>
        <p:spPr>
          <a:xfrm>
            <a:off x="8229600" y="2057400"/>
            <a:ext cx="3108960" cy="1325880"/>
          </a:xfrm>
          <a:prstGeom prst="rect">
            <a:avLst/>
          </a:prstGeom>
          <a:noFill/>
          <a:ln/>
        </p:spPr>
        <p:txBody>
          <a:bodyPr wrap="square" lIns="0" tIns="0" rIns="0" bIns="0" rtlCol="0" anchor="ctr"/>
          <a:lstStyle/>
          <a:p>
            <a:pPr indent="0" marL="0">
              <a:buNone/>
            </a:pPr>
            <a:r>
              <a:rPr lang="en-US" sz="1400" dirty="0">
                <a:solidFill>
                  <a:schemeClr val="tx1"/>
                </a:solidFill>
              </a:rPr>
              <a:t>de silhouette avec housing + loan seuls : le biais du wrapper. Sans macro, la dépendance à la période passe de 0,54 à 0,31.</a:t>
            </a:r>
            <a:endParaRPr lang="en-US" sz="1400" dirty="0"/>
          </a:p>
        </p:txBody>
      </p:sp>
      <p:sp>
        <p:nvSpPr>
          <p:cNvPr id="11" name="Carte bonus 3"/>
          <p:cNvSpPr/>
          <p:nvPr/>
        </p:nvSpPr>
        <p:spPr>
          <a:xfrm>
            <a:off x="548640" y="3794760"/>
            <a:ext cx="5440680" cy="219456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12" name="Titre bonus 3"/>
          <p:cNvSpPr txBox="1"/>
          <p:nvPr/>
        </p:nvSpPr>
        <p:spPr>
          <a:xfrm>
            <a:off x="822960" y="3977640"/>
            <a:ext cx="4846320" cy="411480"/>
          </a:xfrm>
          <a:prstGeom prst="rect">
            <a:avLst/>
          </a:prstGeom>
          <a:noFill/>
          <a:ln/>
        </p:spPr>
        <p:txBody>
          <a:bodyPr wrap="square" lIns="0" tIns="0" rIns="0" bIns="0" rtlCol="0" anchor="t"/>
          <a:lstStyle/>
          <a:p>
            <a:pPr indent="0" marL="0">
              <a:buNone/>
            </a:pPr>
            <a:r>
              <a:rPr lang="en-US" sz="1800" b="1" dirty="0">
                <a:solidFill>
                  <a:schemeClr val="tx2"/>
                </a:solidFill>
              </a:rPr>
              <a:t>Application Streamlit</a:t>
            </a:r>
            <a:endParaRPr lang="en-US" sz="1800" dirty="0"/>
          </a:p>
        </p:txBody>
      </p:sp>
      <p:sp>
        <p:nvSpPr>
          <p:cNvPr id="13" name="Chiffre bonus 3"/>
          <p:cNvSpPr txBox="1"/>
          <p:nvPr/>
        </p:nvSpPr>
        <p:spPr>
          <a:xfrm>
            <a:off x="822960" y="4480560"/>
            <a:ext cx="1737360" cy="1188720"/>
          </a:xfrm>
          <a:prstGeom prst="rect">
            <a:avLst/>
          </a:prstGeom>
          <a:noFill/>
          <a:ln/>
        </p:spPr>
        <p:txBody>
          <a:bodyPr wrap="square" lIns="0" tIns="0" rIns="0" bIns="0" rtlCol="0" anchor="ctr"/>
          <a:lstStyle/>
          <a:p>
            <a:pPr indent="0" marL="0">
              <a:buNone/>
            </a:pPr>
            <a:r>
              <a:rPr lang="en-US" sz="4000" b="1" dirty="0">
                <a:solidFill>
                  <a:schemeClr val="accent6"/>
                </a:solidFill>
                <a:latin typeface="Cambria" pitchFamily="34" charset="0"/>
                <a:ea typeface="Cambria" pitchFamily="34" charset="-122"/>
                <a:cs typeface="Cambria" pitchFamily="34" charset="-120"/>
              </a:rPr>
              <a:t>100 %</a:t>
            </a:r>
            <a:endParaRPr lang="en-US" sz="4000" dirty="0"/>
          </a:p>
        </p:txBody>
      </p:sp>
      <p:sp>
        <p:nvSpPr>
          <p:cNvPr id="14" name="Texte bonus 3"/>
          <p:cNvSpPr txBox="1"/>
          <p:nvPr/>
        </p:nvSpPr>
        <p:spPr>
          <a:xfrm>
            <a:off x="2606040" y="4480560"/>
            <a:ext cx="3108960" cy="1325880"/>
          </a:xfrm>
          <a:prstGeom prst="rect">
            <a:avLst/>
          </a:prstGeom>
          <a:noFill/>
          <a:ln/>
        </p:spPr>
        <p:txBody>
          <a:bodyPr wrap="square" lIns="0" tIns="0" rIns="0" bIns="0" rtlCol="0" anchor="ctr"/>
          <a:lstStyle/>
          <a:p>
            <a:pPr indent="0" marL="0">
              <a:buNone/>
            </a:pPr>
            <a:r>
              <a:rPr lang="en-US" sz="1400" dirty="0">
                <a:solidFill>
                  <a:schemeClr val="tx1"/>
                </a:solidFill>
              </a:rPr>
              <a:t>d'accord avec le modèle sur 300 clients ; saisie individuelle ou affectation d'un fichier CSV.</a:t>
            </a:r>
            <a:endParaRPr lang="en-US" sz="1400" dirty="0"/>
          </a:p>
        </p:txBody>
      </p:sp>
      <p:sp>
        <p:nvSpPr>
          <p:cNvPr id="15" name="Carte bonus 4"/>
          <p:cNvSpPr/>
          <p:nvPr/>
        </p:nvSpPr>
        <p:spPr>
          <a:xfrm>
            <a:off x="6172200" y="3794760"/>
            <a:ext cx="5440680" cy="219456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16" name="Titre bonus 4"/>
          <p:cNvSpPr txBox="1"/>
          <p:nvPr/>
        </p:nvSpPr>
        <p:spPr>
          <a:xfrm>
            <a:off x="6446520" y="3977640"/>
            <a:ext cx="4846320" cy="411480"/>
          </a:xfrm>
          <a:prstGeom prst="rect">
            <a:avLst/>
          </a:prstGeom>
          <a:noFill/>
          <a:ln/>
        </p:spPr>
        <p:txBody>
          <a:bodyPr wrap="square" lIns="0" tIns="0" rIns="0" bIns="0" rtlCol="0" anchor="t"/>
          <a:lstStyle/>
          <a:p>
            <a:pPr indent="0" marL="0">
              <a:buNone/>
            </a:pPr>
            <a:r>
              <a:rPr lang="en-US" sz="1800" b="1" dirty="0">
                <a:solidFill>
                  <a:schemeClr val="tx2"/>
                </a:solidFill>
              </a:rPr>
              <a:t>Online Retail (RFM)</a:t>
            </a:r>
            <a:endParaRPr lang="en-US" sz="1800" dirty="0"/>
          </a:p>
        </p:txBody>
      </p:sp>
      <p:sp>
        <p:nvSpPr>
          <p:cNvPr id="17" name="Chiffre bonus 4"/>
          <p:cNvSpPr txBox="1"/>
          <p:nvPr/>
        </p:nvSpPr>
        <p:spPr>
          <a:xfrm>
            <a:off x="6446520" y="4480560"/>
            <a:ext cx="1737360" cy="118872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65 %</a:t>
            </a:r>
            <a:endParaRPr lang="en-US" sz="4000" dirty="0"/>
          </a:p>
        </p:txBody>
      </p:sp>
      <p:sp>
        <p:nvSpPr>
          <p:cNvPr id="18" name="Texte bonus 4"/>
          <p:cNvSpPr txBox="1"/>
          <p:nvPr/>
        </p:nvSpPr>
        <p:spPr>
          <a:xfrm>
            <a:off x="8229600" y="4480560"/>
            <a:ext cx="3108960" cy="1325880"/>
          </a:xfrm>
          <a:prstGeom prst="rect">
            <a:avLst/>
          </a:prstGeom>
          <a:noFill/>
          <a:ln/>
        </p:spPr>
        <p:txBody>
          <a:bodyPr wrap="square" lIns="0" tIns="0" rIns="0" bIns="0" rtlCol="0" anchor="ctr"/>
          <a:lstStyle/>
          <a:p>
            <a:pPr indent="0" marL="0">
              <a:buNone/>
            </a:pPr>
            <a:r>
              <a:rPr lang="en-US" sz="1400" dirty="0">
                <a:solidFill>
                  <a:schemeClr val="tx1"/>
                </a:solidFill>
              </a:rPr>
              <a:t>du chiffre d'affaires réalisé par les Champions, 16 % des clients ; silhouette 0,34.</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Démo : affecter un nouveau client en un clic</a:t>
            </a:r>
            <a:endParaRPr lang="en-US" sz="3200" dirty="0"/>
          </a:p>
        </p:txBody>
      </p:sp>
      <p:pic>
        <p:nvPicPr>
          <p:cNvPr id="3" name="Capture application" descr="/home/claude/projet/reports/figures/app_streamlit_crop.png">    </p:cNvPr>
          <p:cNvPicPr>
            <a:picLocks noChangeAspect="1"/>
          </p:cNvPicPr>
          <p:nvPr/>
        </p:nvPicPr>
        <p:blipFill>
          <a:blip r:embed="rId1"/>
          <a:stretch>
            <a:fillRect/>
          </a:stretch>
        </p:blipFill>
        <p:spPr>
          <a:xfrm>
            <a:off x="548640" y="1280160"/>
            <a:ext cx="5943600" cy="4882243"/>
          </a:xfrm>
          <a:prstGeom prst="rect">
            <a:avLst/>
          </a:prstGeom>
        </p:spPr>
      </p:pic>
      <p:sp>
        <p:nvSpPr>
          <p:cNvPr id="4" name="Étape démo 1"/>
          <p:cNvSpPr/>
          <p:nvPr/>
        </p:nvSpPr>
        <p:spPr>
          <a:xfrm>
            <a:off x="6858000" y="1417320"/>
            <a:ext cx="548640" cy="548640"/>
          </a:xfrm>
          <a:prstGeom prst="ellipse">
            <a:avLst/>
          </a:prstGeom>
          <a:solidFill>
            <a:schemeClr val="accent6"/>
          </a:solidFill>
          <a:ln/>
        </p:spPr>
      </p:sp>
      <p:sp>
        <p:nvSpPr>
          <p:cNvPr id="5" name="Étape démo 1 texte"/>
          <p:cNvSpPr txBox="1"/>
          <p:nvPr/>
        </p:nvSpPr>
        <p:spPr>
          <a:xfrm>
            <a:off x="6858000" y="14173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e démo 1"/>
          <p:cNvSpPr txBox="1"/>
          <p:nvPr/>
        </p:nvSpPr>
        <p:spPr>
          <a:xfrm>
            <a:off x="7589520" y="1371600"/>
            <a:ext cx="4023360" cy="1005840"/>
          </a:xfrm>
          <a:prstGeom prst="rect">
            <a:avLst/>
          </a:prstGeom>
          <a:noFill/>
          <a:ln/>
        </p:spPr>
        <p:txBody>
          <a:bodyPr wrap="square" lIns="0" tIns="0" rIns="0" bIns="0" rtlCol="0" anchor="t"/>
          <a:lstStyle/>
          <a:p>
            <a:pPr indent="0" marL="0">
              <a:buNone/>
            </a:pPr>
            <a:r>
              <a:rPr lang="en-US" sz="1700" b="1" dirty="0">
                <a:solidFill>
                  <a:schemeClr val="tx2"/>
                </a:solidFill>
              </a:rPr>
              <a:t>Saisir le profil</a:t>
            </a:r>
            <a:endParaRPr lang="en-US" sz="1600" dirty="0"/>
          </a:p>
          <a:p>
            <a:pPr indent="0" marL="0">
              <a:buNone/>
            </a:pPr>
            <a:r>
              <a:rPr lang="en-US" sz="1500" dirty="0">
                <a:solidFill>
                  <a:schemeClr val="tx1"/>
                </a:solidFill>
              </a:rPr>
              <a:t>âge, métier, prêts, canal, historique, contexte de taux</a:t>
            </a:r>
            <a:endParaRPr lang="en-US" sz="1600" dirty="0"/>
          </a:p>
        </p:txBody>
      </p:sp>
      <p:sp>
        <p:nvSpPr>
          <p:cNvPr id="7" name="Étape démo 2"/>
          <p:cNvSpPr/>
          <p:nvPr/>
        </p:nvSpPr>
        <p:spPr>
          <a:xfrm>
            <a:off x="6858000" y="2606040"/>
            <a:ext cx="548640" cy="548640"/>
          </a:xfrm>
          <a:prstGeom prst="ellipse">
            <a:avLst/>
          </a:prstGeom>
          <a:solidFill>
            <a:schemeClr val="accent6"/>
          </a:solidFill>
          <a:ln/>
        </p:spPr>
      </p:sp>
      <p:sp>
        <p:nvSpPr>
          <p:cNvPr id="8" name="Étape démo 2 texte"/>
          <p:cNvSpPr txBox="1"/>
          <p:nvPr/>
        </p:nvSpPr>
        <p:spPr>
          <a:xfrm>
            <a:off x="6858000"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e démo 2"/>
          <p:cNvSpPr txBox="1"/>
          <p:nvPr/>
        </p:nvSpPr>
        <p:spPr>
          <a:xfrm>
            <a:off x="7589520" y="2560320"/>
            <a:ext cx="4023360" cy="1005840"/>
          </a:xfrm>
          <a:prstGeom prst="rect">
            <a:avLst/>
          </a:prstGeom>
          <a:noFill/>
          <a:ln/>
        </p:spPr>
        <p:txBody>
          <a:bodyPr wrap="square" lIns="0" tIns="0" rIns="0" bIns="0" rtlCol="0" anchor="t"/>
          <a:lstStyle/>
          <a:p>
            <a:pPr indent="0" marL="0">
              <a:buNone/>
            </a:pPr>
            <a:r>
              <a:rPr lang="en-US" sz="1700" b="1" dirty="0">
                <a:solidFill>
                  <a:schemeClr val="tx2"/>
                </a:solidFill>
              </a:rPr>
              <a:t>Même pipeline qu'à l'entraînement</a:t>
            </a:r>
            <a:endParaRPr lang="en-US" sz="1600" dirty="0"/>
          </a:p>
          <a:p>
            <a:pPr indent="0" marL="0">
              <a:buNone/>
            </a:pPr>
            <a:r>
              <a:rPr lang="en-US" sz="1500" dirty="0">
                <a:solidFill>
                  <a:schemeClr val="tx1"/>
                </a:solidFill>
              </a:rPr>
              <a:t>transform_new_client() puis centre le plus proche</a:t>
            </a:r>
            <a:endParaRPr lang="en-US" sz="1600" dirty="0"/>
          </a:p>
        </p:txBody>
      </p:sp>
      <p:sp>
        <p:nvSpPr>
          <p:cNvPr id="10" name="Étape démo 3"/>
          <p:cNvSpPr/>
          <p:nvPr/>
        </p:nvSpPr>
        <p:spPr>
          <a:xfrm>
            <a:off x="6858000" y="3794760"/>
            <a:ext cx="548640" cy="548640"/>
          </a:xfrm>
          <a:prstGeom prst="ellipse">
            <a:avLst/>
          </a:prstGeom>
          <a:solidFill>
            <a:schemeClr val="accent6"/>
          </a:solidFill>
          <a:ln/>
        </p:spPr>
      </p:sp>
      <p:sp>
        <p:nvSpPr>
          <p:cNvPr id="11" name="Étape démo 3 texte"/>
          <p:cNvSpPr txBox="1"/>
          <p:nvPr/>
        </p:nvSpPr>
        <p:spPr>
          <a:xfrm>
            <a:off x="6858000" y="37947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e démo 3"/>
          <p:cNvSpPr txBox="1"/>
          <p:nvPr/>
        </p:nvSpPr>
        <p:spPr>
          <a:xfrm>
            <a:off x="7589520" y="3749040"/>
            <a:ext cx="4023360" cy="1005840"/>
          </a:xfrm>
          <a:prstGeom prst="rect">
            <a:avLst/>
          </a:prstGeom>
          <a:noFill/>
          <a:ln/>
        </p:spPr>
        <p:txBody>
          <a:bodyPr wrap="square" lIns="0" tIns="0" rIns="0" bIns="0" rtlCol="0" anchor="t"/>
          <a:lstStyle/>
          <a:p>
            <a:pPr indent="0" marL="0">
              <a:buNone/>
            </a:pPr>
            <a:r>
              <a:rPr lang="en-US" sz="1700" b="1" dirty="0">
                <a:solidFill>
                  <a:schemeClr val="tx2"/>
                </a:solidFill>
              </a:rPr>
              <a:t>Lire la fiche</a:t>
            </a:r>
            <a:endParaRPr lang="en-US" sz="1600" dirty="0"/>
          </a:p>
          <a:p>
            <a:pPr indent="0" marL="0">
              <a:buNone/>
            </a:pPr>
            <a:r>
              <a:rPr lang="en-US" sz="1500" dirty="0">
                <a:solidFill>
                  <a:schemeClr val="tx1"/>
                </a:solidFill>
              </a:rPr>
              <a:t>segment, taux historique, lift, action recommandée</a:t>
            </a:r>
            <a:endParaRPr lang="en-US" sz="1600" dirty="0"/>
          </a:p>
        </p:txBody>
      </p:sp>
      <p:sp>
        <p:nvSpPr>
          <p:cNvPr id="13" name="Étape démo 4"/>
          <p:cNvSpPr/>
          <p:nvPr/>
        </p:nvSpPr>
        <p:spPr>
          <a:xfrm>
            <a:off x="6858000" y="4983480"/>
            <a:ext cx="548640" cy="548640"/>
          </a:xfrm>
          <a:prstGeom prst="ellipse">
            <a:avLst/>
          </a:prstGeom>
          <a:solidFill>
            <a:schemeClr val="accent6"/>
          </a:solidFill>
          <a:ln/>
        </p:spPr>
      </p:sp>
      <p:sp>
        <p:nvSpPr>
          <p:cNvPr id="14" name="Étape démo 4 texte"/>
          <p:cNvSpPr txBox="1"/>
          <p:nvPr/>
        </p:nvSpPr>
        <p:spPr>
          <a:xfrm>
            <a:off x="6858000" y="49834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e démo 4"/>
          <p:cNvSpPr txBox="1"/>
          <p:nvPr/>
        </p:nvSpPr>
        <p:spPr>
          <a:xfrm>
            <a:off x="7589520" y="4937760"/>
            <a:ext cx="4023360" cy="1005840"/>
          </a:xfrm>
          <a:prstGeom prst="rect">
            <a:avLst/>
          </a:prstGeom>
          <a:noFill/>
          <a:ln/>
        </p:spPr>
        <p:txBody>
          <a:bodyPr wrap="square" lIns="0" tIns="0" rIns="0" bIns="0" rtlCol="0" anchor="t"/>
          <a:lstStyle/>
          <a:p>
            <a:pPr indent="0" marL="0">
              <a:buNone/>
            </a:pPr>
            <a:r>
              <a:rPr lang="en-US" sz="1700" b="1" dirty="0">
                <a:solidFill>
                  <a:schemeClr val="tx2"/>
                </a:solidFill>
              </a:rPr>
              <a:t>Traiter un lot</a:t>
            </a:r>
            <a:endParaRPr lang="en-US" sz="1600" dirty="0"/>
          </a:p>
          <a:p>
            <a:pPr indent="0" marL="0">
              <a:buNone/>
            </a:pPr>
            <a:r>
              <a:rPr lang="en-US" sz="1500" dirty="0">
                <a:solidFill>
                  <a:schemeClr val="tx1"/>
                </a:solidFill>
              </a:rPr>
              <a:t>CSV au format UCI, export des affectations</a:t>
            </a:r>
            <a:endParaRPr lang="en-US" sz="1600" dirty="0"/>
          </a:p>
        </p:txBody>
      </p:sp>
      <p:sp>
        <p:nvSpPr>
          <p:cNvPr id="16" name="Commande lancement"/>
          <p:cNvSpPr txBox="1"/>
          <p:nvPr/>
        </p:nvSpPr>
        <p:spPr>
          <a:xfrm>
            <a:off x="6858000" y="5989320"/>
            <a:ext cx="475488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streamlit run app/streamlit_app.py</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bg1"/>
                </a:solidFill>
              </a:rPr>
              <a:t>Ce qu'il faut retenir</a:t>
            </a:r>
            <a:endParaRPr lang="en-US" sz="3200" dirty="0"/>
          </a:p>
        </p:txBody>
      </p:sp>
      <p:sp>
        <p:nvSpPr>
          <p:cNvPr id="3" name="Point clé 1"/>
          <p:cNvSpPr/>
          <p:nvPr/>
        </p:nvSpPr>
        <p:spPr>
          <a:xfrm>
            <a:off x="548640" y="1463040"/>
            <a:ext cx="640080" cy="640080"/>
          </a:xfrm>
          <a:prstGeom prst="ellipse">
            <a:avLst/>
          </a:prstGeom>
          <a:solidFill>
            <a:schemeClr val="accent5"/>
          </a:solidFill>
          <a:ln/>
        </p:spPr>
      </p:sp>
      <p:sp>
        <p:nvSpPr>
          <p:cNvPr id="4" name="Point clé 1 texte"/>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e point clé 1"/>
          <p:cNvSpPr txBox="1"/>
          <p:nvPr/>
        </p:nvSpPr>
        <p:spPr>
          <a:xfrm>
            <a:off x="1417320" y="1417320"/>
            <a:ext cx="5760720" cy="1005840"/>
          </a:xfrm>
          <a:prstGeom prst="rect">
            <a:avLst/>
          </a:prstGeom>
          <a:noFill/>
          <a:ln/>
        </p:spPr>
        <p:txBody>
          <a:bodyPr wrap="square" lIns="0" tIns="0" rIns="0" bIns="0" rtlCol="0" anchor="t"/>
          <a:lstStyle/>
          <a:p>
            <a:pPr indent="0" marL="0">
              <a:buNone/>
            </a:pPr>
            <a:r>
              <a:rPr lang="en-US" sz="2000" b="1" dirty="0">
                <a:solidFill>
                  <a:schemeClr val="bg1"/>
                </a:solidFill>
              </a:rPr>
              <a:t>La distance compte autant que l'algorithme</a:t>
            </a:r>
            <a:endParaRPr lang="en-US" sz="1600" dirty="0"/>
          </a:p>
          <a:p>
            <a:pPr indent="0" marL="0">
              <a:buNone/>
            </a:pPr>
            <a:r>
              <a:rPr lang="en-US" sz="1600" dirty="0">
                <a:solidFill>
                  <a:schemeClr val="bg2"/>
                </a:solidFill>
              </a:rPr>
              <a:t>Standardisation et Gower changent les voisins et les partitions.</a:t>
            </a:r>
            <a:endParaRPr lang="en-US" sz="1600" dirty="0"/>
          </a:p>
        </p:txBody>
      </p:sp>
      <p:sp>
        <p:nvSpPr>
          <p:cNvPr id="6" name="Point clé 2"/>
          <p:cNvSpPr/>
          <p:nvPr/>
        </p:nvSpPr>
        <p:spPr>
          <a:xfrm>
            <a:off x="548640" y="2606040"/>
            <a:ext cx="640080" cy="640080"/>
          </a:xfrm>
          <a:prstGeom prst="ellipse">
            <a:avLst/>
          </a:prstGeom>
          <a:solidFill>
            <a:schemeClr val="accent5"/>
          </a:solidFill>
          <a:ln/>
        </p:spPr>
      </p:sp>
      <p:sp>
        <p:nvSpPr>
          <p:cNvPr id="7" name="Point clé 2 texte"/>
          <p:cNvSpPr txBox="1"/>
          <p:nvPr/>
        </p:nvSpPr>
        <p:spPr>
          <a:xfrm>
            <a:off x="548640" y="2606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exte point clé 2"/>
          <p:cNvSpPr txBox="1"/>
          <p:nvPr/>
        </p:nvSpPr>
        <p:spPr>
          <a:xfrm>
            <a:off x="1417320" y="2560320"/>
            <a:ext cx="5760720" cy="1005840"/>
          </a:xfrm>
          <a:prstGeom prst="rect">
            <a:avLst/>
          </a:prstGeom>
          <a:noFill/>
          <a:ln/>
        </p:spPr>
        <p:txBody>
          <a:bodyPr wrap="square" lIns="0" tIns="0" rIns="0" bIns="0" rtlCol="0" anchor="t"/>
          <a:lstStyle/>
          <a:p>
            <a:pPr indent="0" marL="0">
              <a:buNone/>
            </a:pPr>
            <a:r>
              <a:rPr lang="en-US" sz="2000" b="1" dirty="0">
                <a:solidFill>
                  <a:schemeClr val="bg1"/>
                </a:solidFill>
              </a:rPr>
              <a:t>Lire les indices ensemble</a:t>
            </a:r>
            <a:endParaRPr lang="en-US" sz="1600" dirty="0"/>
          </a:p>
          <a:p>
            <a:pPr indent="0" marL="0">
              <a:buNone/>
            </a:pPr>
            <a:r>
              <a:rPr lang="en-US" sz="1600" dirty="0">
                <a:solidFill>
                  <a:schemeClr val="bg2"/>
                </a:solidFill>
              </a:rPr>
              <a:t>La meilleure silhouette (lien single, k = 2) est la pire segmentation.</a:t>
            </a:r>
            <a:endParaRPr lang="en-US" sz="1600" dirty="0"/>
          </a:p>
        </p:txBody>
      </p:sp>
      <p:sp>
        <p:nvSpPr>
          <p:cNvPr id="9" name="Point clé 3"/>
          <p:cNvSpPr/>
          <p:nvPr/>
        </p:nvSpPr>
        <p:spPr>
          <a:xfrm>
            <a:off x="548640" y="3749040"/>
            <a:ext cx="640080" cy="640080"/>
          </a:xfrm>
          <a:prstGeom prst="ellipse">
            <a:avLst/>
          </a:prstGeom>
          <a:solidFill>
            <a:schemeClr val="accent5"/>
          </a:solidFill>
          <a:ln/>
        </p:spPr>
      </p:sp>
      <p:sp>
        <p:nvSpPr>
          <p:cNvPr id="10" name="Point clé 3 texte"/>
          <p:cNvSpPr txBox="1"/>
          <p:nvPr/>
        </p:nvSpPr>
        <p:spPr>
          <a:xfrm>
            <a:off x="548640" y="3749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exte point clé 3"/>
          <p:cNvSpPr txBox="1"/>
          <p:nvPr/>
        </p:nvSpPr>
        <p:spPr>
          <a:xfrm>
            <a:off x="1417320" y="3703320"/>
            <a:ext cx="5760720" cy="1005840"/>
          </a:xfrm>
          <a:prstGeom prst="rect">
            <a:avLst/>
          </a:prstGeom>
          <a:noFill/>
          <a:ln/>
        </p:spPr>
        <p:txBody>
          <a:bodyPr wrap="square" lIns="0" tIns="0" rIns="0" bIns="0" rtlCol="0" anchor="t"/>
          <a:lstStyle/>
          <a:p>
            <a:pPr indent="0" marL="0">
              <a:buNone/>
            </a:pPr>
            <a:r>
              <a:rPr lang="en-US" sz="2000" b="1" dirty="0">
                <a:solidFill>
                  <a:schemeClr val="bg1"/>
                </a:solidFill>
              </a:rPr>
              <a:t>4 segments, de 4,9 % à 42,5 % de souscription</a:t>
            </a:r>
            <a:endParaRPr lang="en-US" sz="1600" dirty="0"/>
          </a:p>
          <a:p>
            <a:pPr indent="0" marL="0">
              <a:buNone/>
            </a:pPr>
            <a:r>
              <a:rPr lang="en-US" sz="1600" dirty="0">
                <a:solidFill>
                  <a:schemeClr val="bg2"/>
                </a:solidFill>
              </a:rPr>
              <a:t>Classification mixte Ward + K-means, stable et déployable.</a:t>
            </a:r>
            <a:endParaRPr lang="en-US" sz="1600" dirty="0"/>
          </a:p>
        </p:txBody>
      </p:sp>
      <p:sp>
        <p:nvSpPr>
          <p:cNvPr id="12" name="Cadre limites"/>
          <p:cNvSpPr/>
          <p:nvPr/>
        </p:nvSpPr>
        <p:spPr>
          <a:xfrm>
            <a:off x="7589520" y="1417320"/>
            <a:ext cx="4023360" cy="3383280"/>
          </a:xfrm>
          <a:prstGeom prst="roundRect">
            <a:avLst>
              <a:gd name="adj" fmla="val 3243"/>
            </a:avLst>
          </a:prstGeom>
          <a:solidFill>
            <a:schemeClr val="bg1">
              <a:alpha val="12000"/>
            </a:schemeClr>
          </a:solidFill>
          <a:ln w="12700">
            <a:solidFill>
              <a:schemeClr val="accent5"/>
            </a:solidFill>
            <a:prstDash val="solid"/>
          </a:ln>
        </p:spPr>
      </p:sp>
      <p:sp>
        <p:nvSpPr>
          <p:cNvPr id="13" name="Titre limites"/>
          <p:cNvSpPr txBox="1"/>
          <p:nvPr/>
        </p:nvSpPr>
        <p:spPr>
          <a:xfrm>
            <a:off x="7863840" y="1600200"/>
            <a:ext cx="3474720" cy="457200"/>
          </a:xfrm>
          <a:prstGeom prst="rect">
            <a:avLst/>
          </a:prstGeom>
          <a:noFill/>
          <a:ln/>
        </p:spPr>
        <p:txBody>
          <a:bodyPr wrap="square" lIns="0" tIns="0" rIns="0" bIns="0" rtlCol="0" anchor="t"/>
          <a:lstStyle/>
          <a:p>
            <a:pPr indent="0" marL="0">
              <a:buNone/>
            </a:pPr>
            <a:r>
              <a:rPr lang="en-US" sz="2000" b="1" dirty="0">
                <a:solidFill>
                  <a:schemeClr val="accent5"/>
                </a:solidFill>
              </a:rPr>
              <a:t>Limites et suites</a:t>
            </a:r>
            <a:endParaRPr lang="en-US" sz="2000" dirty="0"/>
          </a:p>
        </p:txBody>
      </p:sp>
      <p:sp>
        <p:nvSpPr>
          <p:cNvPr id="14" name="Texte limites"/>
          <p:cNvSpPr txBox="1"/>
          <p:nvPr/>
        </p:nvSpPr>
        <p:spPr>
          <a:xfrm>
            <a:off x="7863840" y="214884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Silhouettes modestes : groupes recouvrants</a:t>
            </a:r>
            <a:endParaRPr lang="en-US" sz="1500" dirty="0"/>
          </a:p>
          <a:p>
            <a:pPr marL="342900" indent="-342900">
              <a:spcAft>
                <a:spcPts val="800"/>
              </a:spcAft>
              <a:buSzPct val="100000"/>
              <a:buChar char="•"/>
            </a:pPr>
            <a:r>
              <a:rPr lang="en-US" sz="1500" dirty="0">
                <a:solidFill>
                  <a:schemeClr val="bg1"/>
                </a:solidFill>
              </a:rPr>
              <a:t>Forte dépendance au contexte de taux</a:t>
            </a:r>
            <a:endParaRPr lang="en-US" sz="1500" dirty="0"/>
          </a:p>
          <a:p>
            <a:pPr marL="342900" indent="-342900">
              <a:spcAft>
                <a:spcPts val="800"/>
              </a:spcAft>
              <a:buSzPct val="100000"/>
              <a:buChar char="•"/>
            </a:pPr>
            <a:r>
              <a:rPr lang="en-US" sz="1500" dirty="0">
                <a:solidFill>
                  <a:schemeClr val="bg1"/>
                </a:solidFill>
              </a:rPr>
              <a:t>Double segmentation : profil pur (CRM) + contexte (campagnes)</a:t>
            </a:r>
            <a:endParaRPr lang="en-US" sz="1500" dirty="0"/>
          </a:p>
          <a:p>
            <a:pPr marL="342900" indent="-342900">
              <a:spcAft>
                <a:spcPts val="800"/>
              </a:spcAft>
              <a:buSzPct val="100000"/>
              <a:buChar char="•"/>
            </a:pPr>
            <a:r>
              <a:rPr lang="en-US" sz="1500" dirty="0">
                <a:solidFill>
                  <a:schemeClr val="bg1"/>
                </a:solidFill>
              </a:rPr>
              <a:t>Test A/B des recommandations</a:t>
            </a:r>
            <a:endParaRPr lang="en-US" sz="1500" dirty="0"/>
          </a:p>
        </p:txBody>
      </p:sp>
      <p:sp>
        <p:nvSpPr>
          <p:cNvPr id="15" name="Merci"/>
          <p:cNvSpPr txBox="1"/>
          <p:nvPr/>
        </p:nvSpPr>
        <p:spPr>
          <a:xfrm>
            <a:off x="548640" y="5257800"/>
            <a:ext cx="11064240" cy="82296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Merci — questions ?</a:t>
            </a:r>
            <a:endParaRPr lang="en-US" sz="3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egmentation bancaire">
  <a:themeElements>
    <a:clrScheme name="Segmentation bancaire">
      <a:dk1>
        <a:srgbClr val="1A1F2B"/>
      </a:dk1>
      <a:lt1>
        <a:srgbClr val="FFFFFF"/>
      </a:lt1>
      <a:dk2>
        <a:srgbClr val="15233B"/>
      </a:dk2>
      <a:lt2>
        <a:srgbClr val="EEF2F7"/>
      </a:lt2>
      <a:accent1>
        <a:srgbClr val="7F8C8D"/>
      </a:accent1>
      <a:accent2>
        <a:srgbClr val="2E86C1"/>
      </a:accent2>
      <a:accent3>
        <a:srgbClr val="C0392B"/>
      </a:accent3>
      <a:accent4>
        <a:srgbClr val="E67E22"/>
      </a:accent4>
      <a:accent5>
        <a:srgbClr val="D4A017"/>
      </a:accent5>
      <a:accent6>
        <a:srgbClr val="1F7A5C"/>
      </a:accent6>
      <a:hlink>
        <a:srgbClr val="2E86C1"/>
      </a:hlink>
      <a:folHlink>
        <a:srgbClr val="6D4C8D"/>
      </a:folHlink>
    </a:clrScheme>
    <a:fontScheme name="Segmentation bancai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Segmentation de clientèle bancaire par apprentissage non supervisé</dc:title>
  <dc:subject>PptxGenJS Presentation</dc:subject>
  <dc:creator>Papa Alassane SECK</dc:creator>
  <cp:lastModifiedBy>Papa Alassane SECK</cp:lastModifiedBy>
  <cp:revision>1</cp:revision>
  <dcterms:created xsi:type="dcterms:W3CDTF">2026-10-05T08:26:11Z</dcterms:created>
  <dcterms:modified xsi:type="dcterms:W3CDTF">2026-10-05T08:26:11Z</dcterms:modified>
</cp:coreProperties>
</file>